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69" r:id="rId4"/>
    <p:sldId id="261" r:id="rId5"/>
    <p:sldId id="271" r:id="rId6"/>
    <p:sldId id="279" r:id="rId7"/>
    <p:sldId id="280" r:id="rId8"/>
    <p:sldId id="273" r:id="rId9"/>
    <p:sldId id="274" r:id="rId10"/>
    <p:sldId id="281" r:id="rId11"/>
    <p:sldId id="276" r:id="rId12"/>
    <p:sldId id="282" r:id="rId13"/>
    <p:sldId id="283" r:id="rId14"/>
    <p:sldId id="284" r:id="rId15"/>
    <p:sldId id="285" r:id="rId16"/>
    <p:sldId id="286" r:id="rId17"/>
    <p:sldId id="288" r:id="rId18"/>
    <p:sldId id="287" r:id="rId19"/>
    <p:sldId id="289" r:id="rId20"/>
    <p:sldId id="290" r:id="rId21"/>
    <p:sldId id="291" r:id="rId22"/>
    <p:sldId id="292" r:id="rId23"/>
    <p:sldId id="293" r:id="rId24"/>
    <p:sldId id="294" r:id="rId25"/>
    <p:sldId id="277" r:id="rId26"/>
  </p:sldIdLst>
  <p:sldSz cx="24384000" cy="13716000"/>
  <p:notesSz cx="6858000" cy="9144000"/>
  <p:embeddedFontLst>
    <p:embeddedFont>
      <p:font typeface="맑은 고딕" panose="020B0503020000020004" pitchFamily="50" charset="-127"/>
      <p:regular r:id="rId28"/>
      <p:bold r:id="rId29"/>
    </p:embeddedFont>
    <p:embeddedFont>
      <p:font typeface="Anek Bangla Expanded ExtraLight" panose="020B0600000101010101" charset="0"/>
      <p:regular r:id="rId30"/>
    </p:embeddedFont>
    <p:embeddedFont>
      <p:font typeface="Anek Bangla Expanded Medium" panose="020B0600000101010101" charset="0"/>
      <p:bold r:id="rId31"/>
    </p:embeddedFont>
    <p:embeddedFont>
      <p:font typeface="에스코어 드림 3 Light" panose="020B0303030302020204" pitchFamily="34" charset="-127"/>
      <p:regular r:id="rId32"/>
    </p:embeddedFont>
    <p:embeddedFont>
      <p:font typeface="에스코어 드림 3 Light" panose="020B0303030302020204" pitchFamily="34" charset="-127"/>
      <p:regular r:id="rId32"/>
    </p:embeddedFont>
    <p:embeddedFont>
      <p:font typeface="에스코어 드림 4 Regular" panose="020B0503030302020204" pitchFamily="34" charset="-127"/>
      <p:regular r:id="rId33"/>
    </p:embeddedFont>
    <p:embeddedFont>
      <p:font typeface="에스코어 드림 4 Regular" panose="020B0503030302020204" pitchFamily="34" charset="-127"/>
      <p:regular r:id="rId33"/>
    </p:embeddedFont>
    <p:embeddedFont>
      <p:font typeface="에스코어 드림 5 Medium" panose="020B0503030302020204" pitchFamily="34" charset="-127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4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5" autoAdjust="0"/>
    <p:restoredTop sz="93914" autoAdjust="0"/>
  </p:normalViewPr>
  <p:slideViewPr>
    <p:cSldViewPr>
      <p:cViewPr varScale="1">
        <p:scale>
          <a:sx n="40" d="100"/>
          <a:sy n="40" d="100"/>
        </p:scale>
        <p:origin x="126" y="1626"/>
      </p:cViewPr>
      <p:guideLst>
        <p:guide orient="horz" pos="2160"/>
        <p:guide pos="2880"/>
      </p:guideLst>
    </p:cSldViewPr>
  </p:slideViewPr>
  <p:outlineViewPr>
    <p:cViewPr>
      <p:scale>
        <a:sx n="66" d="100"/>
        <a:sy n="66" d="100"/>
      </p:scale>
      <p:origin x="0" y="-1596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DD6C39-2FBD-4CD0-9C02-D31A9DEBFD7E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301010-220A-46F6-91B3-883737BD09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036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01010-220A-46F6-91B3-883737BD09BB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021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8.png"/><Relationship Id="rId7" Type="http://schemas.openxmlformats.org/officeDocument/2006/relationships/image" Target="../media/image3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5500" y="-165100"/>
            <a:ext cx="13804900" cy="14160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400" y="8585200"/>
            <a:ext cx="15265400" cy="55372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168400" y="7658100"/>
            <a:ext cx="18783300" cy="5435600"/>
          </a:xfrm>
          <a:prstGeom prst="rect">
            <a:avLst/>
          </a:prstGeom>
        </p:spPr>
        <p:txBody>
          <a:bodyPr lIns="0" tIns="480060" rIns="0" bIns="0" rtlCol="0" anchor="t"/>
          <a:lstStyle/>
          <a:p>
            <a:pPr lvl="0" algn="l">
              <a:lnSpc>
                <a:spcPct val="81339"/>
              </a:lnSpc>
            </a:pPr>
            <a:r>
              <a:rPr lang="en-US" altLang="ko-KR" sz="13000" b="0" i="0" u="none" strike="noStrike" spc="-36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3D Scene </a:t>
            </a:r>
            <a:r>
              <a:rPr lang="ko-KR" altLang="en-US" sz="13000" b="0" i="0" u="none" strike="noStrike" spc="-36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데이터 관리를 위한 </a:t>
            </a:r>
            <a:r>
              <a:rPr lang="en-US" altLang="ko-KR" sz="13000" b="0" i="0" u="none" strike="noStrike" spc="-36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XML </a:t>
            </a:r>
            <a:r>
              <a:rPr lang="ko-KR" altLang="en-US" sz="13000" b="0" i="0" u="none" strike="noStrike" spc="-36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구조 설계</a:t>
            </a:r>
            <a:endParaRPr lang="en-US" altLang="ko-KR" sz="13000" b="0" i="0" u="none" strike="noStrike" spc="-36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46200" y="7200900"/>
            <a:ext cx="4749800" cy="5588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3132" b="0" i="0" u="none" strike="noStrike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21011627 </a:t>
            </a:r>
            <a:r>
              <a:rPr lang="ko-KR" altLang="en-US" sz="3132" b="0" i="0" u="none" strike="noStrike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배준엽</a:t>
            </a:r>
            <a:endParaRPr lang="en" sz="3132" b="0" i="0" u="none" strike="noStrike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8">
            <a:extLst>
              <a:ext uri="{FF2B5EF4-FFF2-40B4-BE49-F238E27FC236}">
                <a16:creationId xmlns:a16="http://schemas.microsoft.com/office/drawing/2014/main" id="{B1F96CCC-0FB9-6DCC-8B19-04597203845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3055602" y="10293351"/>
            <a:ext cx="889000" cy="88900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85800" y="1466851"/>
            <a:ext cx="16192500" cy="12534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8600" y="-127000"/>
            <a:ext cx="6997700" cy="3962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3055602" y="2362200"/>
            <a:ext cx="889000" cy="889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13055602" y="35052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>
            <a:off x="13055602" y="4635500"/>
            <a:ext cx="889000" cy="889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3055602" y="5765800"/>
            <a:ext cx="889000" cy="889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3055602" y="6908800"/>
            <a:ext cx="889000" cy="889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12992102" y="3365500"/>
            <a:ext cx="96393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12992102" y="4508500"/>
            <a:ext cx="9639300" cy="12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12992102" y="5638800"/>
            <a:ext cx="9639300" cy="127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12992102" y="6769100"/>
            <a:ext cx="9639300" cy="127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4300202" y="2540000"/>
            <a:ext cx="3924300" cy="584200"/>
          </a:xfrm>
          <a:prstGeom prst="rect">
            <a:avLst/>
          </a:prstGeom>
        </p:spPr>
        <p:txBody>
          <a:bodyPr lIns="0" tIns="42052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주제 선정 배경</a:t>
            </a:r>
            <a:endParaRPr lang="ko-KR" sz="3311" b="0" i="0" u="none" strike="noStrike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3068302" y="2514600"/>
            <a:ext cx="850900" cy="571500"/>
          </a:xfrm>
          <a:prstGeom prst="rect">
            <a:avLst/>
          </a:prstGeom>
        </p:spPr>
        <p:txBody>
          <a:bodyPr lIns="0" tIns="4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3187" b="0" i="0" u="none" strike="noStrike">
                <a:solidFill>
                  <a:srgbClr val="000000"/>
                </a:solidFill>
                <a:latin typeface="Anek Bangla Expanded ExtraLight"/>
              </a:rPr>
              <a:t>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300202" y="3670300"/>
            <a:ext cx="3644900" cy="584200"/>
          </a:xfrm>
          <a:prstGeom prst="rect">
            <a:avLst/>
          </a:prstGeom>
        </p:spPr>
        <p:txBody>
          <a:bodyPr lIns="0" tIns="42052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XML </a:t>
            </a:r>
            <a:r>
              <a:rPr lang="ko-KR" altLang="en-US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데이터 구조도</a:t>
            </a:r>
            <a:endParaRPr lang="ko-KR" sz="3311" b="0" i="0" u="none" strike="noStrike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3068302" y="3657600"/>
            <a:ext cx="850900" cy="571500"/>
          </a:xfrm>
          <a:prstGeom prst="rect">
            <a:avLst/>
          </a:prstGeom>
        </p:spPr>
        <p:txBody>
          <a:bodyPr lIns="0" tIns="4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3187" b="0" i="0" u="none" strike="noStrike">
                <a:solidFill>
                  <a:srgbClr val="000000"/>
                </a:solidFill>
                <a:latin typeface="Anek Bangla Expanded ExtraLight"/>
              </a:rPr>
              <a:t>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300202" y="4800600"/>
            <a:ext cx="3644900" cy="584200"/>
          </a:xfrm>
          <a:prstGeom prst="rect">
            <a:avLst/>
          </a:prstGeom>
        </p:spPr>
        <p:txBody>
          <a:bodyPr lIns="0" tIns="42052" rIns="0" bIns="0" rtlCol="0" anchor="t"/>
          <a:lstStyle/>
          <a:p>
            <a:pPr lvl="0" algn="l">
              <a:lnSpc>
                <a:spcPct val="99600"/>
              </a:lnSpc>
            </a:pPr>
            <a:r>
              <a:rPr lang="en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ELEMENT </a:t>
            </a:r>
            <a:r>
              <a:rPr lang="ko-KR" altLang="en-US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정의</a:t>
            </a:r>
            <a:endParaRPr lang="en" sz="3311" b="0" i="0" u="none" strike="noStrike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068302" y="4787900"/>
            <a:ext cx="850900" cy="571500"/>
          </a:xfrm>
          <a:prstGeom prst="rect">
            <a:avLst/>
          </a:prstGeom>
        </p:spPr>
        <p:txBody>
          <a:bodyPr lIns="0" tIns="4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3187" b="0" i="0" u="none" strike="noStrike">
                <a:solidFill>
                  <a:srgbClr val="000000"/>
                </a:solidFill>
                <a:latin typeface="Anek Bangla Expanded ExtraLight"/>
              </a:rPr>
              <a:t>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300202" y="5943600"/>
            <a:ext cx="3276600" cy="584200"/>
          </a:xfrm>
          <a:prstGeom prst="rect">
            <a:avLst/>
          </a:prstGeom>
        </p:spPr>
        <p:txBody>
          <a:bodyPr lIns="0" tIns="42052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3311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ATTRIBUTE </a:t>
            </a:r>
            <a:r>
              <a:rPr lang="ko-KR" altLang="en-US" sz="3311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정의</a:t>
            </a:r>
            <a:endParaRPr lang="ko-KR" sz="3311" b="0" i="0" u="none" strike="noStrike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068302" y="5918200"/>
            <a:ext cx="850900" cy="571500"/>
          </a:xfrm>
          <a:prstGeom prst="rect">
            <a:avLst/>
          </a:prstGeom>
        </p:spPr>
        <p:txBody>
          <a:bodyPr lIns="0" tIns="4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3187" b="0" i="0" u="none" strike="noStrike">
                <a:solidFill>
                  <a:srgbClr val="000000"/>
                </a:solidFill>
                <a:latin typeface="Anek Bangla Expanded ExtraLight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300202" y="7073900"/>
            <a:ext cx="3644900" cy="584200"/>
          </a:xfrm>
          <a:prstGeom prst="rect">
            <a:avLst/>
          </a:prstGeom>
        </p:spPr>
        <p:txBody>
          <a:bodyPr lIns="0" tIns="42052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XML </a:t>
            </a:r>
            <a:r>
              <a:rPr lang="ko-KR" altLang="en-US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데이터 예시</a:t>
            </a:r>
            <a:endParaRPr lang="ko-KR" sz="3311" b="0" i="0" u="none" strike="noStrike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3068302" y="7061200"/>
            <a:ext cx="850900" cy="571500"/>
          </a:xfrm>
          <a:prstGeom prst="rect">
            <a:avLst/>
          </a:prstGeom>
        </p:spPr>
        <p:txBody>
          <a:bodyPr lIns="0" tIns="4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3187" b="0" i="0" u="none" strike="noStrike">
                <a:solidFill>
                  <a:srgbClr val="000000"/>
                </a:solidFill>
                <a:latin typeface="Anek Bangla Expanded ExtraLight"/>
              </a:rPr>
              <a:t>5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46200" y="1244600"/>
            <a:ext cx="8737600" cy="3568700"/>
          </a:xfrm>
          <a:prstGeom prst="rect">
            <a:avLst/>
          </a:prstGeom>
        </p:spPr>
        <p:txBody>
          <a:bodyPr lIns="0" tIns="254847" rIns="0" bIns="0" rtlCol="0" anchor="t"/>
          <a:lstStyle/>
          <a:p>
            <a:pPr lvl="0" algn="l">
              <a:lnSpc>
                <a:spcPct val="87149"/>
              </a:lnSpc>
            </a:pPr>
            <a:r>
              <a:rPr lang="en" sz="11466" b="0" i="0" u="none" strike="noStrike" spc="-229">
                <a:solidFill>
                  <a:srgbClr val="000000"/>
                </a:solidFill>
                <a:latin typeface="Anek Bangla Expanded Medium"/>
              </a:rPr>
              <a:t>Table of Contents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99CE80-DB06-CC97-63A1-BC740EB834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3055602" y="8026400"/>
            <a:ext cx="889000" cy="889000"/>
          </a:xfrm>
          <a:prstGeom prst="rect">
            <a:avLst/>
          </a:prstGeom>
        </p:spPr>
      </p:pic>
      <p:pic>
        <p:nvPicPr>
          <p:cNvPr id="10" name="Picture 18">
            <a:extLst>
              <a:ext uri="{FF2B5EF4-FFF2-40B4-BE49-F238E27FC236}">
                <a16:creationId xmlns:a16="http://schemas.microsoft.com/office/drawing/2014/main" id="{5C730B08-AA45-FD20-3EE0-BCF48C45830C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12992102" y="7886700"/>
            <a:ext cx="9639300" cy="12700"/>
          </a:xfrm>
          <a:prstGeom prst="rect">
            <a:avLst/>
          </a:prstGeom>
        </p:spPr>
      </p:pic>
      <p:sp>
        <p:nvSpPr>
          <p:cNvPr id="11" name="TextBox 33">
            <a:extLst>
              <a:ext uri="{FF2B5EF4-FFF2-40B4-BE49-F238E27FC236}">
                <a16:creationId xmlns:a16="http://schemas.microsoft.com/office/drawing/2014/main" id="{19986E31-B607-B995-F306-01975304A537}"/>
              </a:ext>
            </a:extLst>
          </p:cNvPr>
          <p:cNvSpPr txBox="1"/>
          <p:nvPr/>
        </p:nvSpPr>
        <p:spPr>
          <a:xfrm>
            <a:off x="14300202" y="8191500"/>
            <a:ext cx="3644900" cy="584200"/>
          </a:xfrm>
          <a:prstGeom prst="rect">
            <a:avLst/>
          </a:prstGeom>
        </p:spPr>
        <p:txBody>
          <a:bodyPr lIns="0" tIns="42052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DTD </a:t>
            </a:r>
            <a:r>
              <a:rPr lang="ko-KR" altLang="en-US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구조도</a:t>
            </a:r>
            <a:endParaRPr lang="ko-KR" sz="3311" b="0" i="0" u="none" strike="noStrike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2" name="TextBox 34">
            <a:extLst>
              <a:ext uri="{FF2B5EF4-FFF2-40B4-BE49-F238E27FC236}">
                <a16:creationId xmlns:a16="http://schemas.microsoft.com/office/drawing/2014/main" id="{B393E851-1C30-B958-31AC-EED39955CA8E}"/>
              </a:ext>
            </a:extLst>
          </p:cNvPr>
          <p:cNvSpPr txBox="1"/>
          <p:nvPr/>
        </p:nvSpPr>
        <p:spPr>
          <a:xfrm>
            <a:off x="13068302" y="8178800"/>
            <a:ext cx="850900" cy="571500"/>
          </a:xfrm>
          <a:prstGeom prst="rect">
            <a:avLst/>
          </a:prstGeom>
        </p:spPr>
        <p:txBody>
          <a:bodyPr lIns="0" tIns="4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3187">
                <a:solidFill>
                  <a:srgbClr val="000000"/>
                </a:solidFill>
                <a:latin typeface="Anek Bangla Expanded ExtraLight"/>
              </a:rPr>
              <a:t>6</a:t>
            </a:r>
            <a:endParaRPr lang="en" sz="3187" b="0" i="0" u="none" strike="noStrike">
              <a:solidFill>
                <a:srgbClr val="000000"/>
              </a:solidFill>
              <a:latin typeface="Anek Bangla Expanded ExtraLight"/>
            </a:endParaRPr>
          </a:p>
        </p:txBody>
      </p:sp>
      <p:pic>
        <p:nvPicPr>
          <p:cNvPr id="13" name="Picture 8">
            <a:extLst>
              <a:ext uri="{FF2B5EF4-FFF2-40B4-BE49-F238E27FC236}">
                <a16:creationId xmlns:a16="http://schemas.microsoft.com/office/drawing/2014/main" id="{BB613391-5CCF-E14D-B10E-68F73B3EBB0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3055602" y="9137651"/>
            <a:ext cx="889000" cy="889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0F9398E-6BDE-D66B-2D40-5FFA0F1A0BA2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12992102" y="8997951"/>
            <a:ext cx="9639300" cy="12700"/>
          </a:xfrm>
          <a:prstGeom prst="rect">
            <a:avLst/>
          </a:prstGeom>
        </p:spPr>
      </p:pic>
      <p:sp>
        <p:nvSpPr>
          <p:cNvPr id="20" name="TextBox 33">
            <a:extLst>
              <a:ext uri="{FF2B5EF4-FFF2-40B4-BE49-F238E27FC236}">
                <a16:creationId xmlns:a16="http://schemas.microsoft.com/office/drawing/2014/main" id="{3E7596A9-58A6-433F-E489-87D26D0FE205}"/>
              </a:ext>
            </a:extLst>
          </p:cNvPr>
          <p:cNvSpPr txBox="1"/>
          <p:nvPr/>
        </p:nvSpPr>
        <p:spPr>
          <a:xfrm>
            <a:off x="14300202" y="9302751"/>
            <a:ext cx="3644900" cy="584200"/>
          </a:xfrm>
          <a:prstGeom prst="rect">
            <a:avLst/>
          </a:prstGeom>
        </p:spPr>
        <p:txBody>
          <a:bodyPr lIns="0" tIns="42052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DTD </a:t>
            </a:r>
            <a:r>
              <a:rPr lang="ko-KR" altLang="en-US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실행 내역</a:t>
            </a:r>
            <a:endParaRPr lang="ko-KR" sz="3311" b="0" i="0" u="none" strike="noStrike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1" name="TextBox 34">
            <a:extLst>
              <a:ext uri="{FF2B5EF4-FFF2-40B4-BE49-F238E27FC236}">
                <a16:creationId xmlns:a16="http://schemas.microsoft.com/office/drawing/2014/main" id="{E965E577-F198-2018-3179-8086BA6FC661}"/>
              </a:ext>
            </a:extLst>
          </p:cNvPr>
          <p:cNvSpPr txBox="1"/>
          <p:nvPr/>
        </p:nvSpPr>
        <p:spPr>
          <a:xfrm>
            <a:off x="13068302" y="9290051"/>
            <a:ext cx="850900" cy="571500"/>
          </a:xfrm>
          <a:prstGeom prst="rect">
            <a:avLst/>
          </a:prstGeom>
        </p:spPr>
        <p:txBody>
          <a:bodyPr lIns="0" tIns="4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3187">
                <a:solidFill>
                  <a:srgbClr val="000000"/>
                </a:solidFill>
                <a:latin typeface="Anek Bangla Expanded ExtraLight"/>
              </a:rPr>
              <a:t>7</a:t>
            </a:r>
            <a:endParaRPr lang="en" sz="3187" b="0" i="0" u="none" strike="noStrike">
              <a:solidFill>
                <a:srgbClr val="000000"/>
              </a:solidFill>
              <a:latin typeface="Anek Bangla Expanded ExtraLight"/>
            </a:endParaRPr>
          </a:p>
        </p:txBody>
      </p:sp>
      <p:pic>
        <p:nvPicPr>
          <p:cNvPr id="22" name="Picture 18">
            <a:extLst>
              <a:ext uri="{FF2B5EF4-FFF2-40B4-BE49-F238E27FC236}">
                <a16:creationId xmlns:a16="http://schemas.microsoft.com/office/drawing/2014/main" id="{58378F52-A260-FA63-F4CE-389913458094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12966702" y="10179051"/>
            <a:ext cx="9639300" cy="12700"/>
          </a:xfrm>
          <a:prstGeom prst="rect">
            <a:avLst/>
          </a:prstGeom>
        </p:spPr>
      </p:pic>
      <p:sp>
        <p:nvSpPr>
          <p:cNvPr id="23" name="TextBox 33">
            <a:extLst>
              <a:ext uri="{FF2B5EF4-FFF2-40B4-BE49-F238E27FC236}">
                <a16:creationId xmlns:a16="http://schemas.microsoft.com/office/drawing/2014/main" id="{CF427A9E-9BDA-D483-B91B-13FEF0B352C6}"/>
              </a:ext>
            </a:extLst>
          </p:cNvPr>
          <p:cNvSpPr txBox="1"/>
          <p:nvPr/>
        </p:nvSpPr>
        <p:spPr>
          <a:xfrm>
            <a:off x="14274802" y="10483851"/>
            <a:ext cx="3644900" cy="584200"/>
          </a:xfrm>
          <a:prstGeom prst="rect">
            <a:avLst/>
          </a:prstGeom>
        </p:spPr>
        <p:txBody>
          <a:bodyPr lIns="0" tIns="42052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XSD </a:t>
            </a:r>
            <a:r>
              <a:rPr lang="ko-KR" altLang="en-US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구조도</a:t>
            </a:r>
            <a:endParaRPr lang="ko-KR" sz="3311" b="0" i="0" u="none" strike="noStrike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4" name="TextBox 34">
            <a:extLst>
              <a:ext uri="{FF2B5EF4-FFF2-40B4-BE49-F238E27FC236}">
                <a16:creationId xmlns:a16="http://schemas.microsoft.com/office/drawing/2014/main" id="{3796D6B0-C1D7-C034-AD15-028DE69ABCD3}"/>
              </a:ext>
            </a:extLst>
          </p:cNvPr>
          <p:cNvSpPr txBox="1"/>
          <p:nvPr/>
        </p:nvSpPr>
        <p:spPr>
          <a:xfrm>
            <a:off x="13042902" y="10471151"/>
            <a:ext cx="850900" cy="571500"/>
          </a:xfrm>
          <a:prstGeom prst="rect">
            <a:avLst/>
          </a:prstGeom>
        </p:spPr>
        <p:txBody>
          <a:bodyPr lIns="0" tIns="4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3187" b="0" i="0" u="none" strike="noStrike">
                <a:solidFill>
                  <a:srgbClr val="000000"/>
                </a:solidFill>
                <a:latin typeface="Anek Bangla Expanded ExtraLight"/>
              </a:rPr>
              <a:t>8</a:t>
            </a:r>
          </a:p>
        </p:txBody>
      </p:sp>
      <p:pic>
        <p:nvPicPr>
          <p:cNvPr id="36" name="Picture 8">
            <a:extLst>
              <a:ext uri="{FF2B5EF4-FFF2-40B4-BE49-F238E27FC236}">
                <a16:creationId xmlns:a16="http://schemas.microsoft.com/office/drawing/2014/main" id="{B95FDA67-0B63-9066-4A89-DA5583CD37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3055602" y="11449051"/>
            <a:ext cx="889000" cy="889000"/>
          </a:xfrm>
          <a:prstGeom prst="rect">
            <a:avLst/>
          </a:prstGeom>
        </p:spPr>
      </p:pic>
      <p:pic>
        <p:nvPicPr>
          <p:cNvPr id="37" name="Picture 18">
            <a:extLst>
              <a:ext uri="{FF2B5EF4-FFF2-40B4-BE49-F238E27FC236}">
                <a16:creationId xmlns:a16="http://schemas.microsoft.com/office/drawing/2014/main" id="{B44A9FB8-9246-2ABE-5F87-E38B47BF8E29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12966702" y="11334751"/>
            <a:ext cx="9639300" cy="12700"/>
          </a:xfrm>
          <a:prstGeom prst="rect">
            <a:avLst/>
          </a:prstGeom>
        </p:spPr>
      </p:pic>
      <p:sp>
        <p:nvSpPr>
          <p:cNvPr id="38" name="TextBox 33">
            <a:extLst>
              <a:ext uri="{FF2B5EF4-FFF2-40B4-BE49-F238E27FC236}">
                <a16:creationId xmlns:a16="http://schemas.microsoft.com/office/drawing/2014/main" id="{512564ED-7269-B431-687D-8017302DFD6E}"/>
              </a:ext>
            </a:extLst>
          </p:cNvPr>
          <p:cNvSpPr txBox="1"/>
          <p:nvPr/>
        </p:nvSpPr>
        <p:spPr>
          <a:xfrm>
            <a:off x="14274802" y="11639551"/>
            <a:ext cx="3644900" cy="584200"/>
          </a:xfrm>
          <a:prstGeom prst="rect">
            <a:avLst/>
          </a:prstGeom>
        </p:spPr>
        <p:txBody>
          <a:bodyPr lIns="0" tIns="42052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XSD </a:t>
            </a:r>
            <a:r>
              <a:rPr lang="ko-KR" altLang="en-US" sz="3311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실행 내역</a:t>
            </a:r>
            <a:endParaRPr lang="ko-KR" sz="3311" b="0" i="0" u="none" strike="noStrike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9" name="TextBox 34">
            <a:extLst>
              <a:ext uri="{FF2B5EF4-FFF2-40B4-BE49-F238E27FC236}">
                <a16:creationId xmlns:a16="http://schemas.microsoft.com/office/drawing/2014/main" id="{FEBD45C0-7148-86B3-DE67-74C2F901ED58}"/>
              </a:ext>
            </a:extLst>
          </p:cNvPr>
          <p:cNvSpPr txBox="1"/>
          <p:nvPr/>
        </p:nvSpPr>
        <p:spPr>
          <a:xfrm>
            <a:off x="13042902" y="11626851"/>
            <a:ext cx="850900" cy="571500"/>
          </a:xfrm>
          <a:prstGeom prst="rect">
            <a:avLst/>
          </a:prstGeom>
        </p:spPr>
        <p:txBody>
          <a:bodyPr lIns="0" tIns="4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3187" b="0" i="0" u="none" strike="noStrike">
                <a:solidFill>
                  <a:srgbClr val="000000"/>
                </a:solidFill>
                <a:latin typeface="Anek Bangla Expanded ExtraLight"/>
              </a:rPr>
              <a:t>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9399D6-65B4-537D-96E8-849E8645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379F2A9A-3793-BD61-BCBD-525A81F30C8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386592" y="3530600"/>
            <a:ext cx="10655300" cy="9296400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D5D6C238-DA36-36C1-01DD-048487C45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100" y="-139700"/>
            <a:ext cx="12598400" cy="32385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C316951-E544-F560-90D7-9F62071E4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7800" y="-317500"/>
            <a:ext cx="10579100" cy="8915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67F23491-F87E-84FF-8C7D-09BA359FCF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3D35C169-F593-F6EC-A4E3-286A089FBEC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>
            <a:off x="1886857" y="6729186"/>
            <a:ext cx="9690100" cy="127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8E721AA2-07BF-FF88-5462-9556A9D909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2395200" y="3530600"/>
            <a:ext cx="10655300" cy="92964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BC51DB9F-FC62-9536-4990-E5D47955F1C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>
            <a:off x="12738100" y="6741886"/>
            <a:ext cx="9690100" cy="127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08C40EFA-9001-0E4C-B8B8-03693231FDA5}"/>
              </a:ext>
            </a:extLst>
          </p:cNvPr>
          <p:cNvSpPr txBox="1"/>
          <p:nvPr/>
        </p:nvSpPr>
        <p:spPr>
          <a:xfrm>
            <a:off x="1346200" y="1244600"/>
            <a:ext cx="14160500" cy="2044700"/>
          </a:xfrm>
          <a:prstGeom prst="rect">
            <a:avLst/>
          </a:prstGeom>
        </p:spPr>
        <p:txBody>
          <a:bodyPr lIns="0" tIns="254847" rIns="0" bIns="0" rtlCol="0" anchor="t"/>
          <a:lstStyle/>
          <a:p>
            <a:pPr lvl="0" algn="l">
              <a:lnSpc>
                <a:spcPct val="87149"/>
              </a:lnSpc>
            </a:pPr>
            <a:r>
              <a:rPr lang="en" sz="8800" b="0" i="0" u="none" strike="noStrike" spc="-229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1. </a:t>
            </a:r>
            <a:r>
              <a:rPr lang="ko-KR" altLang="en-US" sz="8800" b="0" i="0" u="none" strike="noStrike" spc="-229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주제 선정 배경</a:t>
            </a:r>
            <a:endParaRPr lang="en" sz="8800" b="0" i="0" u="none" strike="noStrike" spc="-229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6A3ABC9-46DF-330A-E277-F443343136C8}"/>
              </a:ext>
            </a:extLst>
          </p:cNvPr>
          <p:cNvSpPr txBox="1"/>
          <p:nvPr/>
        </p:nvSpPr>
        <p:spPr>
          <a:xfrm>
            <a:off x="1854200" y="7019472"/>
            <a:ext cx="9690100" cy="5451928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200000"/>
              </a:lnSpc>
            </a:pPr>
            <a:r>
              <a:rPr lang="ko-KR" altLang="en-US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하나의 씬에는 수많은 오브젝트가 존재하고</a:t>
            </a:r>
            <a:r>
              <a:rPr lang="en-US" altLang="ko-KR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각 오브젝트에도 여러 데이터 구조가 존재합니다</a:t>
            </a:r>
            <a:r>
              <a:rPr lang="en-US" altLang="ko-KR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  </a:t>
            </a:r>
          </a:p>
          <a:p>
            <a:pPr lvl="0">
              <a:lnSpc>
                <a:spcPct val="200000"/>
              </a:lnSpc>
            </a:pPr>
            <a:r>
              <a:rPr lang="ko-KR" altLang="en-US" sz="2692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예를 들어 플레이어 오브젝트에는 기본 위치 데이터부터 플레이어를 움직이는 스크립트 컴포넌트</a:t>
            </a:r>
            <a:r>
              <a:rPr lang="en-US" altLang="ko-KR" sz="2692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2692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플레이어의 충돌을 담당하는 콜라이더 컴포넌트 등이 있습니다</a:t>
            </a:r>
            <a:r>
              <a:rPr lang="en-US" altLang="ko-KR" sz="2692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</a:t>
            </a:r>
          </a:p>
          <a:p>
            <a:pPr lvl="0">
              <a:lnSpc>
                <a:spcPct val="200000"/>
              </a:lnSpc>
            </a:pPr>
            <a:r>
              <a:rPr lang="ko-KR" altLang="en-US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이러한 복잡한 구조의 데이터를 체계화 할 필요성이 있습니다</a:t>
            </a:r>
            <a:r>
              <a:rPr lang="en-US" altLang="ko-KR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</a:t>
            </a:r>
            <a:endParaRPr lang="en-US" sz="2692" b="0" i="0" u="none" strike="noStrike">
              <a:solidFill>
                <a:srgbClr val="595959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637ED64-A3C7-EE13-2D2D-686756417118}"/>
              </a:ext>
            </a:extLst>
          </p:cNvPr>
          <p:cNvSpPr txBox="1"/>
          <p:nvPr/>
        </p:nvSpPr>
        <p:spPr>
          <a:xfrm>
            <a:off x="13119100" y="7016750"/>
            <a:ext cx="9182100" cy="5441950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200000"/>
              </a:lnSpc>
            </a:pPr>
            <a:r>
              <a:rPr lang="ko-KR" altLang="en-US" sz="2692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씬 데이터의 경우 단순히 게임 개발 뿐만 아니라 애니메이션</a:t>
            </a:r>
            <a:r>
              <a:rPr lang="en-US" altLang="ko-KR" sz="2692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2692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영화 등 많은 요소들에서 사용되는 데이터 구조입니다</a:t>
            </a:r>
            <a:r>
              <a:rPr lang="en-US" altLang="ko-KR" sz="2692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</a:t>
            </a:r>
          </a:p>
          <a:p>
            <a:pPr lvl="0">
              <a:lnSpc>
                <a:spcPct val="200000"/>
              </a:lnSpc>
            </a:pPr>
            <a:r>
              <a:rPr lang="ko-KR" altLang="en-US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특히 기획자가 이러한 구조화 된 데이터로 요구사항을 전달하면 자신의 의도를 명확하게 전달하게 되고</a:t>
            </a:r>
            <a:r>
              <a:rPr lang="en-US" altLang="ko-KR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개발자 입장에서도 기획자의 개발 의도를 확실하게 반영 가능해집니다</a:t>
            </a:r>
            <a:r>
              <a:rPr lang="en-US" altLang="ko-KR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</a:t>
            </a:r>
            <a:endParaRPr lang="ko-KR" sz="2692" b="0" i="0" u="none" strike="noStrike">
              <a:solidFill>
                <a:srgbClr val="595959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73C4BC5-2732-A482-796E-DF0B151E08D6}"/>
              </a:ext>
            </a:extLst>
          </p:cNvPr>
          <p:cNvSpPr txBox="1"/>
          <p:nvPr/>
        </p:nvSpPr>
        <p:spPr>
          <a:xfrm>
            <a:off x="13314948" y="5143500"/>
            <a:ext cx="8902700" cy="1308100"/>
          </a:xfrm>
          <a:prstGeom prst="rect">
            <a:avLst/>
          </a:prstGeom>
        </p:spPr>
        <p:txBody>
          <a:bodyPr lIns="0" tIns="170376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6600" b="0" i="0" u="none" strike="noStrike" spc="-134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데이터화 필요성</a:t>
            </a:r>
            <a:endParaRPr lang="en" sz="6600" b="0" i="0" u="none" strike="noStrike" spc="-134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89423AE-A751-2B9B-95B7-A49B7958987F}"/>
              </a:ext>
            </a:extLst>
          </p:cNvPr>
          <p:cNvSpPr txBox="1"/>
          <p:nvPr/>
        </p:nvSpPr>
        <p:spPr>
          <a:xfrm>
            <a:off x="1854200" y="5181600"/>
            <a:ext cx="9690100" cy="1270000"/>
          </a:xfrm>
          <a:prstGeom prst="rect">
            <a:avLst/>
          </a:prstGeom>
        </p:spPr>
        <p:txBody>
          <a:bodyPr lIns="0" tIns="170376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6600" b="0" i="0" u="none" strike="noStrike" spc="-134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다양한 유형의 데이터 구조</a:t>
            </a:r>
            <a:endParaRPr lang="en" sz="6600" b="0" i="0" u="none" strike="noStrike" spc="-134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5ECE1679-B809-E4DE-70DD-166D656E837D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pic>
        <p:nvPicPr>
          <p:cNvPr id="20" name="Picture 20">
            <a:extLst>
              <a:ext uri="{FF2B5EF4-FFF2-40B4-BE49-F238E27FC236}">
                <a16:creationId xmlns:a16="http://schemas.microsoft.com/office/drawing/2014/main" id="{AF8379E1-405B-72A4-C91F-67B34FC8D7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4815" y="3905250"/>
            <a:ext cx="3378200" cy="9017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A411440C-8F0A-DF36-1D4A-2687DFB2D992}"/>
              </a:ext>
            </a:extLst>
          </p:cNvPr>
          <p:cNvSpPr txBox="1"/>
          <p:nvPr/>
        </p:nvSpPr>
        <p:spPr>
          <a:xfrm>
            <a:off x="1822115" y="4108450"/>
            <a:ext cx="34290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666" spc="-27">
                <a:solidFill>
                  <a:srgbClr val="FFFFFF"/>
                </a:solidFill>
                <a:latin typeface="Anek Bangla Expanded Medium"/>
              </a:rPr>
              <a:t>Point</a:t>
            </a:r>
            <a:r>
              <a:rPr lang="ko-KR" altLang="en-US" sz="2666" spc="-27">
                <a:solidFill>
                  <a:srgbClr val="FFFFFF"/>
                </a:solidFill>
                <a:latin typeface="Anek Bangla Expanded Medium"/>
              </a:rPr>
              <a:t> </a:t>
            </a:r>
            <a:r>
              <a:rPr lang="en-US" altLang="ko-KR" sz="2666" spc="-27">
                <a:solidFill>
                  <a:srgbClr val="FFFFFF"/>
                </a:solidFill>
                <a:latin typeface="Anek Bangla Expanded Medium"/>
              </a:rPr>
              <a:t>1</a:t>
            </a:r>
            <a:endParaRPr lang="en" sz="2666" b="0" i="0" u="none" strike="noStrike" spc="-27">
              <a:solidFill>
                <a:srgbClr val="FFFFFF"/>
              </a:solidFill>
              <a:latin typeface="Anek Bangla Expanded Medium"/>
            </a:endParaRPr>
          </a:p>
        </p:txBody>
      </p:sp>
      <p:pic>
        <p:nvPicPr>
          <p:cNvPr id="22" name="Picture 22">
            <a:extLst>
              <a:ext uri="{FF2B5EF4-FFF2-40B4-BE49-F238E27FC236}">
                <a16:creationId xmlns:a16="http://schemas.microsoft.com/office/drawing/2014/main" id="{5FAF3C58-40EC-0911-26CC-F68B62327C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58415" y="3905250"/>
            <a:ext cx="3378200" cy="901700"/>
          </a:xfrm>
          <a:prstGeom prst="rect">
            <a:avLst/>
          </a:prstGeom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FC017EA1-28A1-AF9C-738C-D0EB78FD3C4B}"/>
              </a:ext>
            </a:extLst>
          </p:cNvPr>
          <p:cNvSpPr txBox="1"/>
          <p:nvPr/>
        </p:nvSpPr>
        <p:spPr>
          <a:xfrm>
            <a:off x="12845715" y="4108450"/>
            <a:ext cx="34290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2666" b="0" i="0" u="none" strike="noStrike" spc="-27">
                <a:solidFill>
                  <a:srgbClr val="FFFFFF"/>
                </a:solidFill>
                <a:latin typeface="Anek Bangla Expanded Medium"/>
              </a:rPr>
              <a:t>Point 2</a:t>
            </a:r>
          </a:p>
        </p:txBody>
      </p:sp>
    </p:spTree>
    <p:extLst>
      <p:ext uri="{BB962C8B-B14F-4D97-AF65-F5344CB8AC3E}">
        <p14:creationId xmlns:p14="http://schemas.microsoft.com/office/powerpoint/2010/main" val="3812094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8700" y="5092700"/>
            <a:ext cx="8394700" cy="8864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1603542" y="5672221"/>
            <a:ext cx="9131300" cy="12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346200" y="1244600"/>
            <a:ext cx="10756900" cy="2044700"/>
          </a:xfrm>
          <a:prstGeom prst="rect">
            <a:avLst/>
          </a:prstGeom>
        </p:spPr>
        <p:txBody>
          <a:bodyPr lIns="0" tIns="254847" rIns="0" bIns="0" rtlCol="0" anchor="t"/>
          <a:lstStyle/>
          <a:p>
            <a:pPr lvl="0" algn="l">
              <a:lnSpc>
                <a:spcPct val="87149"/>
              </a:lnSpc>
            </a:pPr>
            <a:r>
              <a:rPr lang="en" sz="8800" b="0" i="0" u="none" strike="noStrike" spc="-229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2. XML </a:t>
            </a:r>
            <a:r>
              <a:rPr lang="ko-KR" altLang="en-US" sz="8800" b="0" i="0" u="none" strike="noStrike" spc="-229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데이터 구조도</a:t>
            </a:r>
            <a:endParaRPr lang="en" sz="8800" b="0" i="0" u="none" strike="noStrike" spc="-229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87450" y="2794000"/>
            <a:ext cx="10782300" cy="1524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ko-KR" altLang="en-US" sz="4000" b="0" i="0" u="none" strike="noStrike">
                <a:solidFill>
                  <a:srgbClr val="000000"/>
                </a:solidFill>
                <a:ea typeface="S-Core Dream 4 Regular"/>
              </a:rPr>
              <a:t>씬 데이터 정보는 다음과 같이 계층화 가능합니다</a:t>
            </a:r>
            <a:r>
              <a:rPr lang="en-US" altLang="ko-KR" sz="4000" b="0" i="0" u="none" strike="noStrike">
                <a:solidFill>
                  <a:srgbClr val="000000"/>
                </a:solidFill>
                <a:ea typeface="S-Core Dream 4 Regular"/>
              </a:rPr>
              <a:t>.</a:t>
            </a:r>
            <a:endParaRPr lang="en-US" sz="4000" b="0" i="0" u="none" strike="noStrike">
              <a:solidFill>
                <a:srgbClr val="000000"/>
              </a:solidFill>
              <a:latin typeface="S-Core Dream 4 Regular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724192" y="5805571"/>
            <a:ext cx="5334000" cy="762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3200" b="0" i="0" u="none" strike="noStrike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오브젝트 이름 및 고유 </a:t>
            </a:r>
            <a:r>
              <a:rPr lang="en-US" altLang="ko-KR" sz="3200" b="0" i="0" u="none" strike="noStrike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ID</a:t>
            </a:r>
            <a:endParaRPr lang="en-US" sz="3200" b="0" i="0" u="none" strike="noStrike">
              <a:solidFill>
                <a:srgbClr val="595959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33" name="Picture 7">
            <a:extLst>
              <a:ext uri="{FF2B5EF4-FFF2-40B4-BE49-F238E27FC236}">
                <a16:creationId xmlns:a16="http://schemas.microsoft.com/office/drawing/2014/main" id="{9825A7E3-6FC5-3F21-F7D6-2B9F7E9B96F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1603542" y="6700921"/>
            <a:ext cx="9131300" cy="12700"/>
          </a:xfrm>
          <a:prstGeom prst="rect">
            <a:avLst/>
          </a:prstGeom>
        </p:spPr>
      </p:pic>
      <p:sp>
        <p:nvSpPr>
          <p:cNvPr id="34" name="TextBox 23">
            <a:extLst>
              <a:ext uri="{FF2B5EF4-FFF2-40B4-BE49-F238E27FC236}">
                <a16:creationId xmlns:a16="http://schemas.microsoft.com/office/drawing/2014/main" id="{EC881324-62CE-3CDC-F80F-DBC6527142AA}"/>
              </a:ext>
            </a:extLst>
          </p:cNvPr>
          <p:cNvSpPr txBox="1"/>
          <p:nvPr/>
        </p:nvSpPr>
        <p:spPr>
          <a:xfrm>
            <a:off x="1724192" y="6834271"/>
            <a:ext cx="10394950" cy="762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3200" b="0" i="0" u="none" strike="noStrike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오브젝트 메타 데이터</a:t>
            </a:r>
            <a:r>
              <a:rPr lang="en-US" altLang="ko-KR" sz="3200" b="0" i="0" u="none" strike="noStrike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(Transform, Rotation, Scale)</a:t>
            </a:r>
            <a:endParaRPr lang="en-US" sz="3200" b="0" i="0" u="none" strike="noStrike">
              <a:solidFill>
                <a:srgbClr val="595959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35" name="Picture 7">
            <a:extLst>
              <a:ext uri="{FF2B5EF4-FFF2-40B4-BE49-F238E27FC236}">
                <a16:creationId xmlns:a16="http://schemas.microsoft.com/office/drawing/2014/main" id="{4D580CB3-8D38-EF65-B7B5-D3F5581D772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1597192" y="7729621"/>
            <a:ext cx="9131300" cy="12700"/>
          </a:xfrm>
          <a:prstGeom prst="rect">
            <a:avLst/>
          </a:prstGeom>
        </p:spPr>
      </p:pic>
      <p:sp>
        <p:nvSpPr>
          <p:cNvPr id="36" name="TextBox 23">
            <a:extLst>
              <a:ext uri="{FF2B5EF4-FFF2-40B4-BE49-F238E27FC236}">
                <a16:creationId xmlns:a16="http://schemas.microsoft.com/office/drawing/2014/main" id="{188CC029-9973-6E00-4721-3FDA1F174006}"/>
              </a:ext>
            </a:extLst>
          </p:cNvPr>
          <p:cNvSpPr txBox="1"/>
          <p:nvPr/>
        </p:nvSpPr>
        <p:spPr>
          <a:xfrm>
            <a:off x="1717842" y="7862971"/>
            <a:ext cx="9334500" cy="762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3200" b="0" i="0" u="none" strike="noStrike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오브젝트에 붙은 컴포넌트 정보</a:t>
            </a:r>
            <a:r>
              <a:rPr lang="en-US" altLang="ko-KR" sz="3200" b="0" i="0" u="none" strike="noStrike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(Script, Material </a:t>
            </a:r>
            <a:r>
              <a:rPr lang="ko-KR" altLang="en-US" sz="3200" b="0" i="0" u="none" strike="noStrike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등</a:t>
            </a:r>
            <a:r>
              <a:rPr lang="en-US" altLang="ko-KR" sz="3200" b="0" i="0" u="none" strike="noStrike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  <a:endParaRPr lang="en-US" sz="3200" b="0" i="0" u="none" strike="noStrike">
              <a:solidFill>
                <a:srgbClr val="595959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37" name="Picture 7">
            <a:extLst>
              <a:ext uri="{FF2B5EF4-FFF2-40B4-BE49-F238E27FC236}">
                <a16:creationId xmlns:a16="http://schemas.microsoft.com/office/drawing/2014/main" id="{11EA28DB-73D0-5D48-1E77-F0AE219DC5D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1597192" y="8758321"/>
            <a:ext cx="9131300" cy="12700"/>
          </a:xfrm>
          <a:prstGeom prst="rect">
            <a:avLst/>
          </a:prstGeom>
        </p:spPr>
      </p:pic>
      <p:sp>
        <p:nvSpPr>
          <p:cNvPr id="38" name="TextBox 23">
            <a:extLst>
              <a:ext uri="{FF2B5EF4-FFF2-40B4-BE49-F238E27FC236}">
                <a16:creationId xmlns:a16="http://schemas.microsoft.com/office/drawing/2014/main" id="{7CF4280E-F1AD-4EC4-166A-07C4F8FFA60B}"/>
              </a:ext>
            </a:extLst>
          </p:cNvPr>
          <p:cNvSpPr txBox="1"/>
          <p:nvPr/>
        </p:nvSpPr>
        <p:spPr>
          <a:xfrm>
            <a:off x="1717842" y="8891671"/>
            <a:ext cx="5334000" cy="762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3200" b="0" i="0" u="none" strike="noStrike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각 컴포넌트의 특성</a:t>
            </a:r>
            <a:endParaRPr lang="en-US" sz="3200" b="0" i="0" u="none" strike="noStrike">
              <a:solidFill>
                <a:srgbClr val="595959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39" name="Picture 7">
            <a:extLst>
              <a:ext uri="{FF2B5EF4-FFF2-40B4-BE49-F238E27FC236}">
                <a16:creationId xmlns:a16="http://schemas.microsoft.com/office/drawing/2014/main" id="{71EC02B9-80DF-E853-71F4-F7500262FAA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1603542" y="9787021"/>
            <a:ext cx="9131300" cy="12700"/>
          </a:xfrm>
          <a:prstGeom prst="rect">
            <a:avLst/>
          </a:prstGeom>
        </p:spPr>
      </p:pic>
      <p:sp>
        <p:nvSpPr>
          <p:cNvPr id="40" name="TextBox 23">
            <a:extLst>
              <a:ext uri="{FF2B5EF4-FFF2-40B4-BE49-F238E27FC236}">
                <a16:creationId xmlns:a16="http://schemas.microsoft.com/office/drawing/2014/main" id="{A18ECA9F-B5F2-5A60-3172-40BF0B3716B1}"/>
              </a:ext>
            </a:extLst>
          </p:cNvPr>
          <p:cNvSpPr txBox="1"/>
          <p:nvPr/>
        </p:nvSpPr>
        <p:spPr>
          <a:xfrm>
            <a:off x="1724192" y="9920371"/>
            <a:ext cx="7270750" cy="762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320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오브젝트 간의 부모</a:t>
            </a:r>
            <a:r>
              <a:rPr lang="en-US" altLang="ko-KR" sz="320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320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자식 관계</a:t>
            </a:r>
            <a:endParaRPr lang="en-US" sz="3200" b="0" i="0" u="none" strike="noStrike">
              <a:solidFill>
                <a:srgbClr val="595959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7DCD27C-9633-9C35-336A-B9C8B1C7EA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944850" y="2549525"/>
            <a:ext cx="6629400" cy="9467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23">
            <a:extLst>
              <a:ext uri="{FF2B5EF4-FFF2-40B4-BE49-F238E27FC236}">
                <a16:creationId xmlns:a16="http://schemas.microsoft.com/office/drawing/2014/main" id="{D6508487-E5FE-BA80-5969-38A9FA8046EF}"/>
              </a:ext>
            </a:extLst>
          </p:cNvPr>
          <p:cNvSpPr txBox="1"/>
          <p:nvPr/>
        </p:nvSpPr>
        <p:spPr>
          <a:xfrm>
            <a:off x="1717842" y="4794918"/>
            <a:ext cx="5334000" cy="762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3200" b="0" i="0" u="none" strike="noStrike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씬 이름</a:t>
            </a:r>
            <a:endParaRPr lang="en-US" sz="3200" b="0" i="0" u="none" strike="noStrike">
              <a:solidFill>
                <a:srgbClr val="595959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0A84D6-1AE7-AF64-65B1-EC0A64937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4468C5F-AC40-533A-03D4-AB418C791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D7EA809-5AB2-C794-9254-62BEE897C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685800"/>
            <a:ext cx="21704300" cy="127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A621E066-2948-238A-311A-0D96479D0C7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8259679" y="1008076"/>
            <a:ext cx="8077200" cy="19564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E1969A33-9047-1543-3DE6-1F5FC2F58053}"/>
              </a:ext>
            </a:extLst>
          </p:cNvPr>
          <p:cNvSpPr txBox="1"/>
          <p:nvPr/>
        </p:nvSpPr>
        <p:spPr>
          <a:xfrm>
            <a:off x="1346200" y="1244600"/>
            <a:ext cx="13423900" cy="21336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" sz="6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3. ELEMENT </a:t>
            </a:r>
            <a:r>
              <a:rPr lang="ko-KR" altLang="en-US" sz="6000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정의</a:t>
            </a:r>
            <a:endParaRPr lang="en" sz="60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BEC4D2A-DBF4-2A09-6755-3B94D7570836}"/>
              </a:ext>
            </a:extLst>
          </p:cNvPr>
          <p:cNvSpPr txBox="1"/>
          <p:nvPr/>
        </p:nvSpPr>
        <p:spPr>
          <a:xfrm>
            <a:off x="11596437" y="1880365"/>
            <a:ext cx="4356100" cy="939133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en-US" altLang="ko-KR" sz="2400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Root </a:t>
            </a:r>
            <a:r>
              <a:rPr lang="ko-KR" altLang="en-US" sz="2400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요소로 </a:t>
            </a:r>
            <a:endParaRPr lang="en-US" altLang="ko-KR" sz="2400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lvl="0" algn="l">
              <a:lnSpc>
                <a:spcPct val="131970"/>
              </a:lnSpc>
            </a:pPr>
            <a:r>
              <a:rPr lang="ko-KR" altLang="en-US" sz="2400" b="0" i="0" u="none" strike="noStrike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씬 </a:t>
            </a:r>
            <a:r>
              <a:rPr lang="en-US" altLang="ko-KR" sz="2400" b="0" i="0" u="none" strike="noStrike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XML </a:t>
            </a:r>
            <a:r>
              <a:rPr lang="ko-KR" altLang="en-US" sz="2400" b="0" i="0" u="none" strike="noStrike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구조의 기반</a:t>
            </a:r>
            <a:endParaRPr lang="en-US" sz="2400" b="0" i="0" u="none" strike="noStrike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AD29332-0EB3-193C-4A13-59971456AB10}"/>
              </a:ext>
            </a:extLst>
          </p:cNvPr>
          <p:cNvSpPr txBox="1"/>
          <p:nvPr/>
        </p:nvSpPr>
        <p:spPr>
          <a:xfrm>
            <a:off x="11568363" y="1109676"/>
            <a:ext cx="3467100" cy="546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en-US" altLang="ko-KR" sz="3066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Root Element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C382126-6B48-80D6-8518-FFCFEC7E19B1}"/>
              </a:ext>
            </a:extLst>
          </p:cNvPr>
          <p:cNvSpPr txBox="1"/>
          <p:nvPr/>
        </p:nvSpPr>
        <p:spPr>
          <a:xfrm>
            <a:off x="8399195" y="1634552"/>
            <a:ext cx="2884905" cy="708193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b="0" i="0" u="none" strike="noStrike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project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283223C9-7B44-75D5-F13C-3D218F82486A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A819190-4717-AD59-2900-A58F80D09DEC}"/>
              </a:ext>
            </a:extLst>
          </p:cNvPr>
          <p:cNvCxnSpPr>
            <a:cxnSpLocks/>
          </p:cNvCxnSpPr>
          <p:nvPr/>
        </p:nvCxnSpPr>
        <p:spPr>
          <a:xfrm>
            <a:off x="11360483" y="1185876"/>
            <a:ext cx="0" cy="16637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6">
            <a:extLst>
              <a:ext uri="{FF2B5EF4-FFF2-40B4-BE49-F238E27FC236}">
                <a16:creationId xmlns:a16="http://schemas.microsoft.com/office/drawing/2014/main" id="{605FBCD2-D377-BB9B-32EB-4E5475C6B19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2639412" y="7950867"/>
            <a:ext cx="7386421" cy="15026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6" name="TextBox 19">
            <a:extLst>
              <a:ext uri="{FF2B5EF4-FFF2-40B4-BE49-F238E27FC236}">
                <a16:creationId xmlns:a16="http://schemas.microsoft.com/office/drawing/2014/main" id="{5BF7CECE-27B5-9D8D-AB4B-B7ADEFA96057}"/>
              </a:ext>
            </a:extLst>
          </p:cNvPr>
          <p:cNvSpPr txBox="1"/>
          <p:nvPr/>
        </p:nvSpPr>
        <p:spPr>
          <a:xfrm>
            <a:off x="5976170" y="8823156"/>
            <a:ext cx="3873677" cy="502653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ko-KR" altLang="en-US" sz="2400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위치</a:t>
            </a:r>
            <a:r>
              <a:rPr lang="en-US" altLang="ko-KR" sz="2400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2400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회전</a:t>
            </a:r>
            <a:r>
              <a:rPr lang="en-US" altLang="ko-KR" sz="2400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2400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크기 값을 지정</a:t>
            </a:r>
            <a:endParaRPr lang="en-US" altLang="ko-KR" sz="2400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37" name="TextBox 20">
            <a:extLst>
              <a:ext uri="{FF2B5EF4-FFF2-40B4-BE49-F238E27FC236}">
                <a16:creationId xmlns:a16="http://schemas.microsoft.com/office/drawing/2014/main" id="{DDD0CD5D-6B83-AA74-6AE5-72B88AD90977}"/>
              </a:ext>
            </a:extLst>
          </p:cNvPr>
          <p:cNvSpPr txBox="1"/>
          <p:nvPr/>
        </p:nvSpPr>
        <p:spPr>
          <a:xfrm>
            <a:off x="5948095" y="8052466"/>
            <a:ext cx="4384173" cy="605589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ko-KR" altLang="en-US" sz="3066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메타 데이터</a:t>
            </a:r>
            <a:r>
              <a:rPr lang="en-US" altLang="ko-KR" sz="3066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Element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38" name="TextBox 21">
            <a:extLst>
              <a:ext uri="{FF2B5EF4-FFF2-40B4-BE49-F238E27FC236}">
                <a16:creationId xmlns:a16="http://schemas.microsoft.com/office/drawing/2014/main" id="{CD15F205-2217-55C8-5354-D574CEC7A94E}"/>
              </a:ext>
            </a:extLst>
          </p:cNvPr>
          <p:cNvSpPr txBox="1"/>
          <p:nvPr/>
        </p:nvSpPr>
        <p:spPr>
          <a:xfrm>
            <a:off x="2799164" y="8387010"/>
            <a:ext cx="2884905" cy="630323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transform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74F2D877-5635-48F9-B2D5-15CCA547AE9B}"/>
              </a:ext>
            </a:extLst>
          </p:cNvPr>
          <p:cNvCxnSpPr>
            <a:cxnSpLocks/>
          </p:cNvCxnSpPr>
          <p:nvPr/>
        </p:nvCxnSpPr>
        <p:spPr>
          <a:xfrm>
            <a:off x="5740216" y="8128667"/>
            <a:ext cx="0" cy="10855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57E69D5-C5CE-F353-5C74-DDA77DE01E6F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 flipH="1">
            <a:off x="12284998" y="2964545"/>
            <a:ext cx="13281" cy="2872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2" name="Picture 6">
            <a:extLst>
              <a:ext uri="{FF2B5EF4-FFF2-40B4-BE49-F238E27FC236}">
                <a16:creationId xmlns:a16="http://schemas.microsoft.com/office/drawing/2014/main" id="{9DF0A405-32A2-C566-647F-D7DCC883C60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3647570" y="7958031"/>
            <a:ext cx="7386421" cy="15026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3" name="TextBox 20">
            <a:extLst>
              <a:ext uri="{FF2B5EF4-FFF2-40B4-BE49-F238E27FC236}">
                <a16:creationId xmlns:a16="http://schemas.microsoft.com/office/drawing/2014/main" id="{E7027AFE-72E1-E754-C345-CC64583DF0BC}"/>
              </a:ext>
            </a:extLst>
          </p:cNvPr>
          <p:cNvSpPr txBox="1"/>
          <p:nvPr/>
        </p:nvSpPr>
        <p:spPr>
          <a:xfrm>
            <a:off x="16885771" y="8073000"/>
            <a:ext cx="4384173" cy="605589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ko-KR" altLang="en-US" sz="3066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컴포넌트 </a:t>
            </a:r>
            <a:r>
              <a:rPr lang="en-US" altLang="ko-KR" sz="3066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Element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84" name="TextBox 21">
            <a:extLst>
              <a:ext uri="{FF2B5EF4-FFF2-40B4-BE49-F238E27FC236}">
                <a16:creationId xmlns:a16="http://schemas.microsoft.com/office/drawing/2014/main" id="{FB674511-F934-2541-4020-7CCDB900CE92}"/>
              </a:ext>
            </a:extLst>
          </p:cNvPr>
          <p:cNvSpPr txBox="1"/>
          <p:nvPr/>
        </p:nvSpPr>
        <p:spPr>
          <a:xfrm>
            <a:off x="13807322" y="8394174"/>
            <a:ext cx="2884905" cy="630323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b="0" i="0" u="none" strike="noStrike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components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7158AD54-16E9-3DA9-72F7-60610FC98AF9}"/>
              </a:ext>
            </a:extLst>
          </p:cNvPr>
          <p:cNvCxnSpPr>
            <a:cxnSpLocks/>
          </p:cNvCxnSpPr>
          <p:nvPr/>
        </p:nvCxnSpPr>
        <p:spPr>
          <a:xfrm>
            <a:off x="16748374" y="8135831"/>
            <a:ext cx="0" cy="10855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TextBox 19">
            <a:extLst>
              <a:ext uri="{FF2B5EF4-FFF2-40B4-BE49-F238E27FC236}">
                <a16:creationId xmlns:a16="http://schemas.microsoft.com/office/drawing/2014/main" id="{93550835-3D17-C3AB-56A5-DCF3A229E5C9}"/>
              </a:ext>
            </a:extLst>
          </p:cNvPr>
          <p:cNvSpPr txBox="1"/>
          <p:nvPr/>
        </p:nvSpPr>
        <p:spPr>
          <a:xfrm>
            <a:off x="16988337" y="8786540"/>
            <a:ext cx="4009743" cy="434807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ko-KR" altLang="en-US" sz="2400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오브젝트에 붙는 컴포넌트</a:t>
            </a:r>
            <a:endParaRPr lang="en-US" altLang="ko-KR" sz="2400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pic>
        <p:nvPicPr>
          <p:cNvPr id="93" name="Picture 6">
            <a:extLst>
              <a:ext uri="{FF2B5EF4-FFF2-40B4-BE49-F238E27FC236}">
                <a16:creationId xmlns:a16="http://schemas.microsoft.com/office/drawing/2014/main" id="{E4A57CAB-52F8-C56E-C845-0CD351BD776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2719212" y="10088284"/>
            <a:ext cx="3056095" cy="13072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5" name="TextBox 20">
            <a:extLst>
              <a:ext uri="{FF2B5EF4-FFF2-40B4-BE49-F238E27FC236}">
                <a16:creationId xmlns:a16="http://schemas.microsoft.com/office/drawing/2014/main" id="{D8C31BF7-506D-8B4F-4CFB-8715D123BA3A}"/>
              </a:ext>
            </a:extLst>
          </p:cNvPr>
          <p:cNvSpPr txBox="1"/>
          <p:nvPr/>
        </p:nvSpPr>
        <p:spPr>
          <a:xfrm>
            <a:off x="4545613" y="10415841"/>
            <a:ext cx="1229693" cy="605589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1970"/>
              </a:lnSpc>
            </a:pPr>
            <a:r>
              <a:rPr lang="ko-KR" altLang="en-US" sz="3066" b="0" i="0" u="none" strike="noStrike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위치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96" name="TextBox 21">
            <a:extLst>
              <a:ext uri="{FF2B5EF4-FFF2-40B4-BE49-F238E27FC236}">
                <a16:creationId xmlns:a16="http://schemas.microsoft.com/office/drawing/2014/main" id="{53647381-EFC4-B68B-3ED1-6788FB6753EE}"/>
              </a:ext>
            </a:extLst>
          </p:cNvPr>
          <p:cNvSpPr txBox="1"/>
          <p:nvPr/>
        </p:nvSpPr>
        <p:spPr>
          <a:xfrm>
            <a:off x="2865208" y="10439126"/>
            <a:ext cx="1629619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position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98" name="Picture 6">
            <a:extLst>
              <a:ext uri="{FF2B5EF4-FFF2-40B4-BE49-F238E27FC236}">
                <a16:creationId xmlns:a16="http://schemas.microsoft.com/office/drawing/2014/main" id="{4B8C6099-1AE9-D225-4A19-3A752A25AF1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6969738" y="10088284"/>
            <a:ext cx="3056095" cy="13072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9" name="TextBox 20">
            <a:extLst>
              <a:ext uri="{FF2B5EF4-FFF2-40B4-BE49-F238E27FC236}">
                <a16:creationId xmlns:a16="http://schemas.microsoft.com/office/drawing/2014/main" id="{8AF6C420-8C70-ABB7-D4E8-9E47FD2FEA76}"/>
              </a:ext>
            </a:extLst>
          </p:cNvPr>
          <p:cNvSpPr txBox="1"/>
          <p:nvPr/>
        </p:nvSpPr>
        <p:spPr>
          <a:xfrm>
            <a:off x="8068067" y="10415841"/>
            <a:ext cx="1957766" cy="605589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1970"/>
              </a:lnSpc>
            </a:pPr>
            <a:r>
              <a:rPr lang="ko-KR" altLang="en-US" sz="3066" b="0" i="0" u="none" strike="noStrike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크기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00" name="TextBox 21">
            <a:extLst>
              <a:ext uri="{FF2B5EF4-FFF2-40B4-BE49-F238E27FC236}">
                <a16:creationId xmlns:a16="http://schemas.microsoft.com/office/drawing/2014/main" id="{A1B8AAEA-5FC7-283E-6F48-826F04C9F61A}"/>
              </a:ext>
            </a:extLst>
          </p:cNvPr>
          <p:cNvSpPr txBox="1"/>
          <p:nvPr/>
        </p:nvSpPr>
        <p:spPr>
          <a:xfrm>
            <a:off x="7043645" y="10429784"/>
            <a:ext cx="1157485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b="0" i="0" u="none" strike="noStrike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scale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B89FE8C8-744F-3AEC-8095-92B30E2FF7A1}"/>
              </a:ext>
            </a:extLst>
          </p:cNvPr>
          <p:cNvCxnSpPr>
            <a:cxnSpLocks/>
            <a:stCxn id="35" idx="2"/>
            <a:endCxn id="93" idx="0"/>
          </p:cNvCxnSpPr>
          <p:nvPr/>
        </p:nvCxnSpPr>
        <p:spPr>
          <a:xfrm flipH="1">
            <a:off x="4247260" y="9453478"/>
            <a:ext cx="2085363" cy="63480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27D4A99E-340B-2E44-FCDA-08A4A6939334}"/>
              </a:ext>
            </a:extLst>
          </p:cNvPr>
          <p:cNvCxnSpPr>
            <a:cxnSpLocks/>
            <a:stCxn id="35" idx="2"/>
            <a:endCxn id="98" idx="0"/>
          </p:cNvCxnSpPr>
          <p:nvPr/>
        </p:nvCxnSpPr>
        <p:spPr>
          <a:xfrm>
            <a:off x="6332623" y="9453478"/>
            <a:ext cx="2165163" cy="63480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1" name="Picture 6">
            <a:extLst>
              <a:ext uri="{FF2B5EF4-FFF2-40B4-BE49-F238E27FC236}">
                <a16:creationId xmlns:a16="http://schemas.microsoft.com/office/drawing/2014/main" id="{824D9BA0-0E51-6FD2-FCD1-CA02140A5DA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4804575" y="11590895"/>
            <a:ext cx="3056095" cy="13072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2" name="TextBox 20">
            <a:extLst>
              <a:ext uri="{FF2B5EF4-FFF2-40B4-BE49-F238E27FC236}">
                <a16:creationId xmlns:a16="http://schemas.microsoft.com/office/drawing/2014/main" id="{3573E030-A4D0-C2B2-AECF-68AAE59FF8D6}"/>
              </a:ext>
            </a:extLst>
          </p:cNvPr>
          <p:cNvSpPr txBox="1"/>
          <p:nvPr/>
        </p:nvSpPr>
        <p:spPr>
          <a:xfrm>
            <a:off x="6700894" y="11937719"/>
            <a:ext cx="1031042" cy="605589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1970"/>
              </a:lnSpc>
            </a:pPr>
            <a:r>
              <a:rPr lang="ko-KR" altLang="en-US" sz="3066" b="0" i="0" u="none" strike="noStrike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회전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13" name="TextBox 21">
            <a:extLst>
              <a:ext uri="{FF2B5EF4-FFF2-40B4-BE49-F238E27FC236}">
                <a16:creationId xmlns:a16="http://schemas.microsoft.com/office/drawing/2014/main" id="{34D12395-63DB-1124-E673-7C36700794D4}"/>
              </a:ext>
            </a:extLst>
          </p:cNvPr>
          <p:cNvSpPr txBox="1"/>
          <p:nvPr/>
        </p:nvSpPr>
        <p:spPr>
          <a:xfrm>
            <a:off x="4703004" y="11941737"/>
            <a:ext cx="1896319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" sz="3600" b="0" i="0" u="none" strike="noStrike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rotation</a:t>
            </a: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FC11DEA3-9D78-1A00-F6DC-12CB52E529E9}"/>
              </a:ext>
            </a:extLst>
          </p:cNvPr>
          <p:cNvCxnSpPr>
            <a:cxnSpLocks/>
            <a:stCxn id="35" idx="2"/>
            <a:endCxn id="111" idx="0"/>
          </p:cNvCxnSpPr>
          <p:nvPr/>
        </p:nvCxnSpPr>
        <p:spPr>
          <a:xfrm>
            <a:off x="6332623" y="9453478"/>
            <a:ext cx="0" cy="21374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6" name="Picture 6">
            <a:extLst>
              <a:ext uri="{FF2B5EF4-FFF2-40B4-BE49-F238E27FC236}">
                <a16:creationId xmlns:a16="http://schemas.microsoft.com/office/drawing/2014/main" id="{DAD5F304-B360-71CA-9FF6-C173C1D89A4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2396183" y="10008789"/>
            <a:ext cx="4592154" cy="13072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7" name="TextBox 20">
            <a:extLst>
              <a:ext uri="{FF2B5EF4-FFF2-40B4-BE49-F238E27FC236}">
                <a16:creationId xmlns:a16="http://schemas.microsoft.com/office/drawing/2014/main" id="{383E00C6-6070-7596-1298-C5EA52AE49DA}"/>
              </a:ext>
            </a:extLst>
          </p:cNvPr>
          <p:cNvSpPr txBox="1"/>
          <p:nvPr/>
        </p:nvSpPr>
        <p:spPr>
          <a:xfrm>
            <a:off x="14954008" y="10094541"/>
            <a:ext cx="1980161" cy="1177564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1970"/>
              </a:lnSpc>
            </a:pPr>
            <a:r>
              <a:rPr lang="ko-KR" altLang="en-US" sz="3066" b="0" i="0" u="none" strike="noStrike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컴포넌트 정의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28" name="TextBox 21">
            <a:extLst>
              <a:ext uri="{FF2B5EF4-FFF2-40B4-BE49-F238E27FC236}">
                <a16:creationId xmlns:a16="http://schemas.microsoft.com/office/drawing/2014/main" id="{758708C2-9219-4B0A-3A6B-29E951B4816B}"/>
              </a:ext>
            </a:extLst>
          </p:cNvPr>
          <p:cNvSpPr txBox="1"/>
          <p:nvPr/>
        </p:nvSpPr>
        <p:spPr>
          <a:xfrm>
            <a:off x="12475463" y="10350257"/>
            <a:ext cx="2514170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component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85A700C6-384F-296A-E0A3-CFCC95CF2983}"/>
              </a:ext>
            </a:extLst>
          </p:cNvPr>
          <p:cNvCxnSpPr>
            <a:cxnSpLocks/>
            <a:stCxn id="82" idx="2"/>
            <a:endCxn id="126" idx="0"/>
          </p:cNvCxnSpPr>
          <p:nvPr/>
        </p:nvCxnSpPr>
        <p:spPr>
          <a:xfrm flipH="1">
            <a:off x="14692260" y="9460642"/>
            <a:ext cx="2648521" cy="54814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6">
            <a:extLst>
              <a:ext uri="{FF2B5EF4-FFF2-40B4-BE49-F238E27FC236}">
                <a16:creationId xmlns:a16="http://schemas.microsoft.com/office/drawing/2014/main" id="{43084195-F900-2020-3718-ACA069B60D2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7267685" y="10008789"/>
            <a:ext cx="4592154" cy="13072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20">
            <a:extLst>
              <a:ext uri="{FF2B5EF4-FFF2-40B4-BE49-F238E27FC236}">
                <a16:creationId xmlns:a16="http://schemas.microsoft.com/office/drawing/2014/main" id="{9DABB7BB-8885-801F-19E3-9C0EEFD1D858}"/>
              </a:ext>
            </a:extLst>
          </p:cNvPr>
          <p:cNvSpPr txBox="1"/>
          <p:nvPr/>
        </p:nvSpPr>
        <p:spPr>
          <a:xfrm>
            <a:off x="19825510" y="10094541"/>
            <a:ext cx="1980161" cy="1177564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1970"/>
              </a:lnSpc>
            </a:pPr>
            <a:r>
              <a:rPr lang="ko-KR" altLang="en-US" sz="3066" b="0" i="0" u="none" strike="noStrike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컴포넌트 정의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6" name="TextBox 21">
            <a:extLst>
              <a:ext uri="{FF2B5EF4-FFF2-40B4-BE49-F238E27FC236}">
                <a16:creationId xmlns:a16="http://schemas.microsoft.com/office/drawing/2014/main" id="{A4F0CBE0-1B3B-A8CA-3D6E-82042F6A220C}"/>
              </a:ext>
            </a:extLst>
          </p:cNvPr>
          <p:cNvSpPr txBox="1"/>
          <p:nvPr/>
        </p:nvSpPr>
        <p:spPr>
          <a:xfrm>
            <a:off x="17346965" y="10350257"/>
            <a:ext cx="2514170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component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98EA2FF-4688-F111-A14B-6987213C96FC}"/>
              </a:ext>
            </a:extLst>
          </p:cNvPr>
          <p:cNvCxnSpPr>
            <a:cxnSpLocks/>
            <a:stCxn id="82" idx="2"/>
            <a:endCxn id="14" idx="0"/>
          </p:cNvCxnSpPr>
          <p:nvPr/>
        </p:nvCxnSpPr>
        <p:spPr>
          <a:xfrm>
            <a:off x="17340781" y="9460642"/>
            <a:ext cx="2222981" cy="54814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5407FC82-F399-9A2B-E33B-816F4CFB8635}"/>
              </a:ext>
            </a:extLst>
          </p:cNvPr>
          <p:cNvCxnSpPr>
            <a:cxnSpLocks/>
            <a:stCxn id="82" idx="2"/>
          </p:cNvCxnSpPr>
          <p:nvPr/>
        </p:nvCxnSpPr>
        <p:spPr>
          <a:xfrm>
            <a:off x="17340781" y="9460642"/>
            <a:ext cx="5149783" cy="5084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21">
            <a:extLst>
              <a:ext uri="{FF2B5EF4-FFF2-40B4-BE49-F238E27FC236}">
                <a16:creationId xmlns:a16="http://schemas.microsoft.com/office/drawing/2014/main" id="{9FB2573F-754C-D174-3279-E675611E7F6E}"/>
              </a:ext>
            </a:extLst>
          </p:cNvPr>
          <p:cNvSpPr txBox="1"/>
          <p:nvPr/>
        </p:nvSpPr>
        <p:spPr>
          <a:xfrm>
            <a:off x="22142816" y="10080664"/>
            <a:ext cx="1154427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…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76D87394-8652-7702-890A-DFAC17AD5A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8246398" y="3251746"/>
            <a:ext cx="8077200" cy="19564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9">
            <a:extLst>
              <a:ext uri="{FF2B5EF4-FFF2-40B4-BE49-F238E27FC236}">
                <a16:creationId xmlns:a16="http://schemas.microsoft.com/office/drawing/2014/main" id="{5C99B4A7-D8C0-9559-34B8-EE418F58B926}"/>
              </a:ext>
            </a:extLst>
          </p:cNvPr>
          <p:cNvSpPr txBox="1"/>
          <p:nvPr/>
        </p:nvSpPr>
        <p:spPr>
          <a:xfrm>
            <a:off x="11583156" y="4124035"/>
            <a:ext cx="4356100" cy="939133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Project</a:t>
            </a:r>
            <a:r>
              <a:rPr lang="ko-KR" altLang="en-US" sz="2400" b="0" i="0" u="none" strike="noStrike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내 다양한 </a:t>
            </a:r>
            <a:r>
              <a:rPr lang="ko-KR" altLang="en-US" sz="2400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씬을 정의한다</a:t>
            </a:r>
            <a:endParaRPr lang="en-US" sz="2400" b="0" i="0" u="none" strike="noStrike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2" name="TextBox 20">
            <a:extLst>
              <a:ext uri="{FF2B5EF4-FFF2-40B4-BE49-F238E27FC236}">
                <a16:creationId xmlns:a16="http://schemas.microsoft.com/office/drawing/2014/main" id="{088F3438-880D-980F-A0F8-BE9B8D434F27}"/>
              </a:ext>
            </a:extLst>
          </p:cNvPr>
          <p:cNvSpPr txBox="1"/>
          <p:nvPr/>
        </p:nvSpPr>
        <p:spPr>
          <a:xfrm>
            <a:off x="11555082" y="3353346"/>
            <a:ext cx="3467100" cy="546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en-US" altLang="ko-KR" sz="3066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Scene Element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3" name="TextBox 21">
            <a:extLst>
              <a:ext uri="{FF2B5EF4-FFF2-40B4-BE49-F238E27FC236}">
                <a16:creationId xmlns:a16="http://schemas.microsoft.com/office/drawing/2014/main" id="{9014FCA2-9436-7B3E-26CC-0B7628B84376}"/>
              </a:ext>
            </a:extLst>
          </p:cNvPr>
          <p:cNvSpPr txBox="1"/>
          <p:nvPr/>
        </p:nvSpPr>
        <p:spPr>
          <a:xfrm>
            <a:off x="8385914" y="3878222"/>
            <a:ext cx="2884905" cy="708193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b="0" i="0" u="none" strike="noStrike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scene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53E2808-AF5C-9ED8-F321-92A6FD22894A}"/>
              </a:ext>
            </a:extLst>
          </p:cNvPr>
          <p:cNvCxnSpPr>
            <a:cxnSpLocks/>
          </p:cNvCxnSpPr>
          <p:nvPr/>
        </p:nvCxnSpPr>
        <p:spPr>
          <a:xfrm>
            <a:off x="11347202" y="3429546"/>
            <a:ext cx="0" cy="16637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7" name="Picture 6">
            <a:extLst>
              <a:ext uri="{FF2B5EF4-FFF2-40B4-BE49-F238E27FC236}">
                <a16:creationId xmlns:a16="http://schemas.microsoft.com/office/drawing/2014/main" id="{3FBDF7CF-A241-CDC4-5952-BDCF91D3E72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8246398" y="5474394"/>
            <a:ext cx="8077200" cy="19564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8" name="TextBox 19">
            <a:extLst>
              <a:ext uri="{FF2B5EF4-FFF2-40B4-BE49-F238E27FC236}">
                <a16:creationId xmlns:a16="http://schemas.microsoft.com/office/drawing/2014/main" id="{37A070EC-E300-FF4B-3125-E44F560FB7CF}"/>
              </a:ext>
            </a:extLst>
          </p:cNvPr>
          <p:cNvSpPr txBox="1"/>
          <p:nvPr/>
        </p:nvSpPr>
        <p:spPr>
          <a:xfrm>
            <a:off x="11583156" y="6346683"/>
            <a:ext cx="4356100" cy="939133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ko-KR" altLang="en-US" sz="2400" b="0" i="0" u="none" strike="noStrike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씬 내의 다양한 유형의 오브젝트 정보들을 표현한다</a:t>
            </a:r>
            <a:endParaRPr lang="en-US" sz="2400" b="0" i="0" u="none" strike="noStrike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49" name="TextBox 20">
            <a:extLst>
              <a:ext uri="{FF2B5EF4-FFF2-40B4-BE49-F238E27FC236}">
                <a16:creationId xmlns:a16="http://schemas.microsoft.com/office/drawing/2014/main" id="{D4CB408D-AAB2-4FAE-3A7A-06140A932C21}"/>
              </a:ext>
            </a:extLst>
          </p:cNvPr>
          <p:cNvSpPr txBox="1"/>
          <p:nvPr/>
        </p:nvSpPr>
        <p:spPr>
          <a:xfrm>
            <a:off x="11555082" y="5575994"/>
            <a:ext cx="3467100" cy="546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en-US" altLang="ko-KR" sz="3066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Object Element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50" name="TextBox 21">
            <a:extLst>
              <a:ext uri="{FF2B5EF4-FFF2-40B4-BE49-F238E27FC236}">
                <a16:creationId xmlns:a16="http://schemas.microsoft.com/office/drawing/2014/main" id="{2BC707B6-83E0-0ED2-60FC-59F6DDFEBE1D}"/>
              </a:ext>
            </a:extLst>
          </p:cNvPr>
          <p:cNvSpPr txBox="1"/>
          <p:nvPr/>
        </p:nvSpPr>
        <p:spPr>
          <a:xfrm>
            <a:off x="8385914" y="6100870"/>
            <a:ext cx="2884905" cy="708193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object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ECE7531A-5A6C-8A83-FB8A-F35BC7CC266D}"/>
              </a:ext>
            </a:extLst>
          </p:cNvPr>
          <p:cNvCxnSpPr>
            <a:cxnSpLocks/>
          </p:cNvCxnSpPr>
          <p:nvPr/>
        </p:nvCxnSpPr>
        <p:spPr>
          <a:xfrm>
            <a:off x="11347202" y="5652194"/>
            <a:ext cx="0" cy="16637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5BD2F878-C7C2-0BF3-2B98-CD5A63683E14}"/>
              </a:ext>
            </a:extLst>
          </p:cNvPr>
          <p:cNvCxnSpPr>
            <a:cxnSpLocks/>
            <a:stCxn id="10" idx="2"/>
            <a:endCxn id="47" idx="0"/>
          </p:cNvCxnSpPr>
          <p:nvPr/>
        </p:nvCxnSpPr>
        <p:spPr>
          <a:xfrm>
            <a:off x="12284998" y="5208215"/>
            <a:ext cx="0" cy="26617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9" name="Picture 6">
            <a:extLst>
              <a:ext uri="{FF2B5EF4-FFF2-40B4-BE49-F238E27FC236}">
                <a16:creationId xmlns:a16="http://schemas.microsoft.com/office/drawing/2014/main" id="{71E0B96D-3478-7AF1-372F-C9344675303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4578350" y="3556000"/>
            <a:ext cx="3056095" cy="13072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1" name="TextBox 21">
            <a:extLst>
              <a:ext uri="{FF2B5EF4-FFF2-40B4-BE49-F238E27FC236}">
                <a16:creationId xmlns:a16="http://schemas.microsoft.com/office/drawing/2014/main" id="{E6B03F9C-86C1-9181-7711-46C140FB96F2}"/>
              </a:ext>
            </a:extLst>
          </p:cNvPr>
          <p:cNvSpPr txBox="1"/>
          <p:nvPr/>
        </p:nvSpPr>
        <p:spPr>
          <a:xfrm>
            <a:off x="4578350" y="3897500"/>
            <a:ext cx="3056095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b="0" i="0" u="none" strike="noStrike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scene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88" name="Picture 6">
            <a:extLst>
              <a:ext uri="{FF2B5EF4-FFF2-40B4-BE49-F238E27FC236}">
                <a16:creationId xmlns:a16="http://schemas.microsoft.com/office/drawing/2014/main" id="{E825978A-576D-DE3D-9B4D-2FDA7E07372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7024147" y="3509524"/>
            <a:ext cx="3056095" cy="13072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9" name="TextBox 21">
            <a:extLst>
              <a:ext uri="{FF2B5EF4-FFF2-40B4-BE49-F238E27FC236}">
                <a16:creationId xmlns:a16="http://schemas.microsoft.com/office/drawing/2014/main" id="{21DA4186-4887-DE8A-AB0B-38BA4A042C16}"/>
              </a:ext>
            </a:extLst>
          </p:cNvPr>
          <p:cNvSpPr txBox="1"/>
          <p:nvPr/>
        </p:nvSpPr>
        <p:spPr>
          <a:xfrm>
            <a:off x="17024147" y="3851024"/>
            <a:ext cx="3056095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b="0" i="0" u="none" strike="noStrike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scene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40021574-F253-7796-58C3-EEA163442211}"/>
              </a:ext>
            </a:extLst>
          </p:cNvPr>
          <p:cNvCxnSpPr>
            <a:cxnSpLocks/>
          </p:cNvCxnSpPr>
          <p:nvPr/>
        </p:nvCxnSpPr>
        <p:spPr>
          <a:xfrm flipH="1">
            <a:off x="7545849" y="2899524"/>
            <a:ext cx="713830" cy="6889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3F91965C-B655-234F-2E28-21D9272B81A3}"/>
              </a:ext>
            </a:extLst>
          </p:cNvPr>
          <p:cNvCxnSpPr>
            <a:cxnSpLocks/>
          </p:cNvCxnSpPr>
          <p:nvPr/>
        </p:nvCxnSpPr>
        <p:spPr>
          <a:xfrm>
            <a:off x="16323598" y="2892310"/>
            <a:ext cx="664738" cy="61721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34760BF9-A618-C4C1-6C57-23655CC5E134}"/>
              </a:ext>
            </a:extLst>
          </p:cNvPr>
          <p:cNvCxnSpPr>
            <a:cxnSpLocks/>
          </p:cNvCxnSpPr>
          <p:nvPr/>
        </p:nvCxnSpPr>
        <p:spPr>
          <a:xfrm flipH="1">
            <a:off x="12265948" y="5212991"/>
            <a:ext cx="13281" cy="2872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6" name="Picture 6">
            <a:extLst>
              <a:ext uri="{FF2B5EF4-FFF2-40B4-BE49-F238E27FC236}">
                <a16:creationId xmlns:a16="http://schemas.microsoft.com/office/drawing/2014/main" id="{827AA891-D33B-480C-A1E2-17D53B8B055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4559300" y="5804446"/>
            <a:ext cx="3056095" cy="13072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7" name="TextBox 21">
            <a:extLst>
              <a:ext uri="{FF2B5EF4-FFF2-40B4-BE49-F238E27FC236}">
                <a16:creationId xmlns:a16="http://schemas.microsoft.com/office/drawing/2014/main" id="{28BD3F60-CCD9-523B-1D9F-791E5A4AD75D}"/>
              </a:ext>
            </a:extLst>
          </p:cNvPr>
          <p:cNvSpPr txBox="1"/>
          <p:nvPr/>
        </p:nvSpPr>
        <p:spPr>
          <a:xfrm>
            <a:off x="4559300" y="6145946"/>
            <a:ext cx="3056095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b="0" i="0" u="none" strike="noStrike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object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108" name="Picture 6">
            <a:extLst>
              <a:ext uri="{FF2B5EF4-FFF2-40B4-BE49-F238E27FC236}">
                <a16:creationId xmlns:a16="http://schemas.microsoft.com/office/drawing/2014/main" id="{63F20864-CA6E-1B68-BEB6-58F023F002C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7005097" y="5757970"/>
            <a:ext cx="3056095" cy="13072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9" name="TextBox 21">
            <a:extLst>
              <a:ext uri="{FF2B5EF4-FFF2-40B4-BE49-F238E27FC236}">
                <a16:creationId xmlns:a16="http://schemas.microsoft.com/office/drawing/2014/main" id="{E6152585-63CF-5F8A-D890-8130A52DE88B}"/>
              </a:ext>
            </a:extLst>
          </p:cNvPr>
          <p:cNvSpPr txBox="1"/>
          <p:nvPr/>
        </p:nvSpPr>
        <p:spPr>
          <a:xfrm>
            <a:off x="17005097" y="6099470"/>
            <a:ext cx="3056095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b="0" i="0" u="none" strike="noStrike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object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976C72EB-6E82-D65C-A18E-0AE635E95F4F}"/>
              </a:ext>
            </a:extLst>
          </p:cNvPr>
          <p:cNvCxnSpPr>
            <a:cxnSpLocks/>
          </p:cNvCxnSpPr>
          <p:nvPr/>
        </p:nvCxnSpPr>
        <p:spPr>
          <a:xfrm flipH="1">
            <a:off x="7526799" y="5147970"/>
            <a:ext cx="713830" cy="6889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F2FBF998-1582-7AA0-B416-B8608C448BAE}"/>
              </a:ext>
            </a:extLst>
          </p:cNvPr>
          <p:cNvCxnSpPr>
            <a:cxnSpLocks/>
          </p:cNvCxnSpPr>
          <p:nvPr/>
        </p:nvCxnSpPr>
        <p:spPr>
          <a:xfrm>
            <a:off x="16304548" y="5140756"/>
            <a:ext cx="664738" cy="61721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연결선: 꺾임 115">
            <a:extLst>
              <a:ext uri="{FF2B5EF4-FFF2-40B4-BE49-F238E27FC236}">
                <a16:creationId xmlns:a16="http://schemas.microsoft.com/office/drawing/2014/main" id="{519744F9-5EAE-CA74-856A-139CAA13AAF2}"/>
              </a:ext>
            </a:extLst>
          </p:cNvPr>
          <p:cNvCxnSpPr>
            <a:cxnSpLocks/>
            <a:stCxn id="47" idx="2"/>
            <a:endCxn id="35" idx="0"/>
          </p:cNvCxnSpPr>
          <p:nvPr/>
        </p:nvCxnSpPr>
        <p:spPr>
          <a:xfrm rot="5400000">
            <a:off x="9048809" y="4714678"/>
            <a:ext cx="520004" cy="5952375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연결선: 꺾임 117">
            <a:extLst>
              <a:ext uri="{FF2B5EF4-FFF2-40B4-BE49-F238E27FC236}">
                <a16:creationId xmlns:a16="http://schemas.microsoft.com/office/drawing/2014/main" id="{01BE38AB-C631-0DC3-1363-D01CD0C8A4D8}"/>
              </a:ext>
            </a:extLst>
          </p:cNvPr>
          <p:cNvCxnSpPr>
            <a:cxnSpLocks/>
            <a:stCxn id="47" idx="2"/>
            <a:endCxn id="82" idx="0"/>
          </p:cNvCxnSpPr>
          <p:nvPr/>
        </p:nvCxnSpPr>
        <p:spPr>
          <a:xfrm rot="16200000" flipH="1">
            <a:off x="14549305" y="5166555"/>
            <a:ext cx="527168" cy="5055783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9" name="Picture 6">
            <a:extLst>
              <a:ext uri="{FF2B5EF4-FFF2-40B4-BE49-F238E27FC236}">
                <a16:creationId xmlns:a16="http://schemas.microsoft.com/office/drawing/2014/main" id="{5B112177-8E0C-36AA-1C44-C3755D4929F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0947415" y="11948658"/>
            <a:ext cx="3056095" cy="13072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1" name="TextBox 21">
            <a:extLst>
              <a:ext uri="{FF2B5EF4-FFF2-40B4-BE49-F238E27FC236}">
                <a16:creationId xmlns:a16="http://schemas.microsoft.com/office/drawing/2014/main" id="{63BFD747-686E-0C92-3EF7-10639894D939}"/>
              </a:ext>
            </a:extLst>
          </p:cNvPr>
          <p:cNvSpPr txBox="1"/>
          <p:nvPr/>
        </p:nvSpPr>
        <p:spPr>
          <a:xfrm>
            <a:off x="11139348" y="12023255"/>
            <a:ext cx="2821748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component element1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142" name="Picture 6">
            <a:extLst>
              <a:ext uri="{FF2B5EF4-FFF2-40B4-BE49-F238E27FC236}">
                <a16:creationId xmlns:a16="http://schemas.microsoft.com/office/drawing/2014/main" id="{62A0168B-08A3-7F04-399A-2614818064B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4843530" y="11951525"/>
            <a:ext cx="3056095" cy="13072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3" name="TextBox 21">
            <a:extLst>
              <a:ext uri="{FF2B5EF4-FFF2-40B4-BE49-F238E27FC236}">
                <a16:creationId xmlns:a16="http://schemas.microsoft.com/office/drawing/2014/main" id="{7BD19BC5-AC86-3E65-A41D-5731DA9045E6}"/>
              </a:ext>
            </a:extLst>
          </p:cNvPr>
          <p:cNvSpPr txBox="1"/>
          <p:nvPr/>
        </p:nvSpPr>
        <p:spPr>
          <a:xfrm>
            <a:off x="15035463" y="12026122"/>
            <a:ext cx="2821748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component element2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144" name="직선 화살표 연결선 143">
            <a:extLst>
              <a:ext uri="{FF2B5EF4-FFF2-40B4-BE49-F238E27FC236}">
                <a16:creationId xmlns:a16="http://schemas.microsoft.com/office/drawing/2014/main" id="{C78058E5-4591-3138-7550-2AD86A2B469A}"/>
              </a:ext>
            </a:extLst>
          </p:cNvPr>
          <p:cNvCxnSpPr>
            <a:cxnSpLocks/>
            <a:stCxn id="126" idx="2"/>
            <a:endCxn id="129" idx="0"/>
          </p:cNvCxnSpPr>
          <p:nvPr/>
        </p:nvCxnSpPr>
        <p:spPr>
          <a:xfrm flipH="1">
            <a:off x="12475463" y="11316064"/>
            <a:ext cx="2216797" cy="63259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4AFD90EF-BFB1-CF77-EE24-40B39C23E99F}"/>
              </a:ext>
            </a:extLst>
          </p:cNvPr>
          <p:cNvCxnSpPr>
            <a:cxnSpLocks/>
            <a:stCxn id="126" idx="2"/>
            <a:endCxn id="142" idx="0"/>
          </p:cNvCxnSpPr>
          <p:nvPr/>
        </p:nvCxnSpPr>
        <p:spPr>
          <a:xfrm>
            <a:off x="14692260" y="11316064"/>
            <a:ext cx="1679318" cy="63546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0" name="TextBox 21">
            <a:extLst>
              <a:ext uri="{FF2B5EF4-FFF2-40B4-BE49-F238E27FC236}">
                <a16:creationId xmlns:a16="http://schemas.microsoft.com/office/drawing/2014/main" id="{5667D79D-7019-5FAC-BE89-398149356244}"/>
              </a:ext>
            </a:extLst>
          </p:cNvPr>
          <p:cNvSpPr txBox="1"/>
          <p:nvPr/>
        </p:nvSpPr>
        <p:spPr>
          <a:xfrm>
            <a:off x="18706708" y="11904699"/>
            <a:ext cx="1154427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…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1486778F-092F-400D-9C7A-D4B2A43ECF8E}"/>
              </a:ext>
            </a:extLst>
          </p:cNvPr>
          <p:cNvCxnSpPr>
            <a:cxnSpLocks/>
            <a:stCxn id="126" idx="2"/>
          </p:cNvCxnSpPr>
          <p:nvPr/>
        </p:nvCxnSpPr>
        <p:spPr>
          <a:xfrm>
            <a:off x="14692260" y="11316064"/>
            <a:ext cx="4300948" cy="6513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514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11BE2B-6402-D534-291D-872F54E61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2082676-4A5E-7291-5E37-36049C741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0365F2C-31E1-0183-6E9F-B67360D83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D9644FBB-EA6F-24E5-CE11-08AC8F1E4EFC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73EBF36-5D79-E92B-2CBB-189DA0FDC9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469898"/>
              </p:ext>
            </p:extLst>
          </p:nvPr>
        </p:nvGraphicFramePr>
        <p:xfrm>
          <a:off x="3244850" y="2081238"/>
          <a:ext cx="17881600" cy="10735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97199">
                  <a:extLst>
                    <a:ext uri="{9D8B030D-6E8A-4147-A177-3AD203B41FA5}">
                      <a16:colId xmlns:a16="http://schemas.microsoft.com/office/drawing/2014/main" val="373489978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1198100965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248969707"/>
                    </a:ext>
                  </a:extLst>
                </a:gridCol>
                <a:gridCol w="5435601">
                  <a:extLst>
                    <a:ext uri="{9D8B030D-6E8A-4147-A177-3AD203B41FA5}">
                      <a16:colId xmlns:a16="http://schemas.microsoft.com/office/drawing/2014/main" val="1054768682"/>
                    </a:ext>
                  </a:extLst>
                </a:gridCol>
              </a:tblGrid>
              <a:tr h="13419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component</a:t>
                      </a:r>
                    </a:p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type=“”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element</a:t>
                      </a:r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이름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element </a:t>
                      </a:r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설명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element</a:t>
                      </a:r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자료형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88383"/>
                  </a:ext>
                </a:extLst>
              </a:tr>
              <a:tr h="134196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camera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FieldOfView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카메라 시야 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float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0678168"/>
                  </a:ext>
                </a:extLst>
              </a:tr>
              <a:tr h="13419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NearClip, FarClip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카메라 렌더링 최소</a:t>
                      </a:r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최대 거리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float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992633"/>
                  </a:ext>
                </a:extLst>
              </a:tr>
              <a:tr h="134196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Light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LightType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빛의 종류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string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1649122"/>
                  </a:ext>
                </a:extLst>
              </a:tr>
              <a:tr h="13419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Intensity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빛의 강도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float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6847710"/>
                  </a:ext>
                </a:extLst>
              </a:tr>
              <a:tr h="13419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Color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빛의 색상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string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6155459"/>
                  </a:ext>
                </a:extLst>
              </a:tr>
              <a:tr h="134196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Rigidbody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mass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강체 무게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float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4882234"/>
                  </a:ext>
                </a:extLst>
              </a:tr>
              <a:tr h="13419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isKinematic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강체 고정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boolean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9275362"/>
                  </a:ext>
                </a:extLst>
              </a:tr>
            </a:tbl>
          </a:graphicData>
        </a:graphic>
      </p:graphicFrame>
      <p:sp>
        <p:nvSpPr>
          <p:cNvPr id="5" name="TextBox 9">
            <a:extLst>
              <a:ext uri="{FF2B5EF4-FFF2-40B4-BE49-F238E27FC236}">
                <a16:creationId xmlns:a16="http://schemas.microsoft.com/office/drawing/2014/main" id="{D3305E68-7A14-613F-ECD5-80ABDD4D0DD4}"/>
              </a:ext>
            </a:extLst>
          </p:cNvPr>
          <p:cNvSpPr txBox="1"/>
          <p:nvPr/>
        </p:nvSpPr>
        <p:spPr>
          <a:xfrm>
            <a:off x="1087743" y="899026"/>
            <a:ext cx="3471557" cy="9652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000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</a:t>
            </a:r>
            <a:r>
              <a:rPr lang="en-US" sz="4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Element </a:t>
            </a:r>
            <a:r>
              <a:rPr lang="ko-KR" altLang="en-US" sz="4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정의</a:t>
            </a:r>
            <a:endParaRPr lang="en" sz="40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818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1BD39E-BB12-E0C5-2334-CB9D1B557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50283C4-9E5B-6D61-6203-FAEF89EF6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35976E40-BE03-699E-EC46-10D546FD1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D26032C5-DE69-41FD-4325-787957725C9F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61C6081-B796-88A0-EF9D-FB5D5BEF4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872552"/>
              </p:ext>
            </p:extLst>
          </p:nvPr>
        </p:nvGraphicFramePr>
        <p:xfrm>
          <a:off x="3242176" y="1727200"/>
          <a:ext cx="17881600" cy="117073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97199">
                  <a:extLst>
                    <a:ext uri="{9D8B030D-6E8A-4147-A177-3AD203B41FA5}">
                      <a16:colId xmlns:a16="http://schemas.microsoft.com/office/drawing/2014/main" val="373489978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1198100965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1248969707"/>
                    </a:ext>
                  </a:extLst>
                </a:gridCol>
                <a:gridCol w="5588001">
                  <a:extLst>
                    <a:ext uri="{9D8B030D-6E8A-4147-A177-3AD203B41FA5}">
                      <a16:colId xmlns:a16="http://schemas.microsoft.com/office/drawing/2014/main" val="1054768682"/>
                    </a:ext>
                  </a:extLst>
                </a:gridCol>
              </a:tblGrid>
              <a:tr h="101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component</a:t>
                      </a:r>
                    </a:p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type=“”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element</a:t>
                      </a:r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이름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element</a:t>
                      </a:r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설명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element</a:t>
                      </a:r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자료형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88383"/>
                  </a:ext>
                </a:extLst>
              </a:tr>
              <a:tr h="134196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Collider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coll_type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콜라이더 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string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0678168"/>
                  </a:ext>
                </a:extLst>
              </a:tr>
              <a:tr h="13419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isTrigger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트리거 이벤트 반응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boolean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992633"/>
                  </a:ext>
                </a:extLst>
              </a:tr>
              <a:tr h="12953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MeshRenderer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mesh_ref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참조 메쉬 오브젝트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string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1649122"/>
                  </a:ext>
                </a:extLst>
              </a:tr>
              <a:tr h="134196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AudioSource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audio_ref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참조 오디오 소스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string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4882234"/>
                  </a:ext>
                </a:extLst>
              </a:tr>
              <a:tr h="13419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loop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반복 재생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boolean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9275362"/>
                  </a:ext>
                </a:extLst>
              </a:tr>
              <a:tr h="13419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playOnAwake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깨어나는 시점에 재생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boolean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6957037"/>
                  </a:ext>
                </a:extLst>
              </a:tr>
              <a:tr h="13419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Canvas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render_mode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UI</a:t>
                      </a:r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렌더링 모드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string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7679349"/>
                  </a:ext>
                </a:extLst>
              </a:tr>
              <a:tr h="13419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CanvasScaler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scale_mode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UI</a:t>
                      </a:r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요소의 기준 크기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string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2810257"/>
                  </a:ext>
                </a:extLst>
              </a:tr>
            </a:tbl>
          </a:graphicData>
        </a:graphic>
      </p:graphicFrame>
      <p:sp>
        <p:nvSpPr>
          <p:cNvPr id="5" name="TextBox 9">
            <a:extLst>
              <a:ext uri="{FF2B5EF4-FFF2-40B4-BE49-F238E27FC236}">
                <a16:creationId xmlns:a16="http://schemas.microsoft.com/office/drawing/2014/main" id="{7857BB20-13FF-F9BB-E02C-2C2365D885F8}"/>
              </a:ext>
            </a:extLst>
          </p:cNvPr>
          <p:cNvSpPr txBox="1"/>
          <p:nvPr/>
        </p:nvSpPr>
        <p:spPr>
          <a:xfrm>
            <a:off x="1087743" y="899026"/>
            <a:ext cx="3471557" cy="9652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000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</a:t>
            </a:r>
            <a:r>
              <a:rPr lang="en-US" sz="4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Element </a:t>
            </a:r>
            <a:r>
              <a:rPr lang="ko-KR" altLang="en-US" sz="4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정의</a:t>
            </a:r>
            <a:endParaRPr lang="en" sz="40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5314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07196D-8B25-C90D-5474-E1406964F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9A92158-AC44-7DC8-F6A5-4F38C8D77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981A0ED-460B-335F-CC19-358B169E5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2697880E-8F10-465C-0AE0-D824C96C2213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D0792B7-26A6-9BC5-DB89-84AC429A5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7772"/>
              </p:ext>
            </p:extLst>
          </p:nvPr>
        </p:nvGraphicFramePr>
        <p:xfrm>
          <a:off x="4064000" y="7233318"/>
          <a:ext cx="16256000" cy="55161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92136966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334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5610335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66690532"/>
                    </a:ext>
                  </a:extLst>
                </a:gridCol>
              </a:tblGrid>
              <a:tr h="1103229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object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</a:t>
                      </a: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element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에 정의될 속성들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897832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이름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id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name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parent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316747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역할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오브젝트 구분 역할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오브젝트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부모 오브젝트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8390930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타입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ID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CDATA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IDREF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384334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기본 값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#IMPLIED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960752"/>
                  </a:ext>
                </a:extLst>
              </a:tr>
            </a:tbl>
          </a:graphicData>
        </a:graphic>
      </p:graphicFrame>
      <p:sp>
        <p:nvSpPr>
          <p:cNvPr id="5" name="TextBox 9">
            <a:extLst>
              <a:ext uri="{FF2B5EF4-FFF2-40B4-BE49-F238E27FC236}">
                <a16:creationId xmlns:a16="http://schemas.microsoft.com/office/drawing/2014/main" id="{F09C5F45-712B-9FEB-DED9-96B39C8EAE93}"/>
              </a:ext>
            </a:extLst>
          </p:cNvPr>
          <p:cNvSpPr txBox="1"/>
          <p:nvPr/>
        </p:nvSpPr>
        <p:spPr>
          <a:xfrm>
            <a:off x="541976" y="1089694"/>
            <a:ext cx="3471557" cy="9652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4. Attribute </a:t>
            </a:r>
            <a:r>
              <a:rPr lang="ko-KR" altLang="en-US" sz="4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정의</a:t>
            </a:r>
            <a:endParaRPr lang="en" sz="40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3270387-2DDF-3302-1DEF-3A03FF259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124182"/>
              </p:ext>
            </p:extLst>
          </p:nvPr>
        </p:nvGraphicFramePr>
        <p:xfrm>
          <a:off x="8121650" y="1276517"/>
          <a:ext cx="8128000" cy="55161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92136966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33496"/>
                    </a:ext>
                  </a:extLst>
                </a:gridCol>
              </a:tblGrid>
              <a:tr h="110322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scene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</a:t>
                      </a: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element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에 정의될 속성들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897832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이름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name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316747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역할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scene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구분 역할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8390930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타입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CDATA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384334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기본 값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960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257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B48945-2DE4-D419-9B67-0108D595C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4A336C0-A76B-9C47-CD1E-95D3104A1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8FA1A27-B87F-2660-745E-29CD690C0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19CACDE0-CC68-9405-2D76-980D429C39BA}"/>
              </a:ext>
            </a:extLst>
          </p:cNvPr>
          <p:cNvSpPr txBox="1"/>
          <p:nvPr/>
        </p:nvSpPr>
        <p:spPr>
          <a:xfrm>
            <a:off x="381000" y="990600"/>
            <a:ext cx="3471557" cy="9652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4. Attribute </a:t>
            </a:r>
            <a:r>
              <a:rPr lang="ko-KR" altLang="en-US" sz="4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정의</a:t>
            </a:r>
            <a:endParaRPr lang="en" sz="40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7FE65C3-0ED4-9242-FE22-4ACC4C0274CA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7132326-A828-00CE-A1DC-149641B7B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597403"/>
              </p:ext>
            </p:extLst>
          </p:nvPr>
        </p:nvGraphicFramePr>
        <p:xfrm>
          <a:off x="5308377" y="7427161"/>
          <a:ext cx="13767246" cy="55161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53134">
                  <a:extLst>
                    <a:ext uri="{9D8B030D-6E8A-4147-A177-3AD203B41FA5}">
                      <a16:colId xmlns:a16="http://schemas.microsoft.com/office/drawing/2014/main" val="3921369662"/>
                    </a:ext>
                  </a:extLst>
                </a:gridCol>
                <a:gridCol w="10314112">
                  <a:extLst>
                    <a:ext uri="{9D8B030D-6E8A-4147-A177-3AD203B41FA5}">
                      <a16:colId xmlns:a16="http://schemas.microsoft.com/office/drawing/2014/main" val="2733496"/>
                    </a:ext>
                  </a:extLst>
                </a:gridCol>
              </a:tblGrid>
              <a:tr h="110322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component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에 정의될 속성들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897832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이름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type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316747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역할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컴포넌트 종류 정의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7113025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타입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ENUM(Script, Camera, Light, Rigidbody, Collider 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등</a:t>
                      </a: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)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384334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기본 값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960752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3C7D5F1-9BFB-1926-248F-93190B23C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373100"/>
              </p:ext>
            </p:extLst>
          </p:nvPr>
        </p:nvGraphicFramePr>
        <p:xfrm>
          <a:off x="4064000" y="1441116"/>
          <a:ext cx="16256000" cy="55161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92136966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334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666905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656947744"/>
                    </a:ext>
                  </a:extLst>
                </a:gridCol>
              </a:tblGrid>
              <a:tr h="1103229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position, roatation, scale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</a:t>
                      </a: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element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에 정의될 속성들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897832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이름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x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y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z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316747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역할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x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축 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y 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축 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z 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축 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4157182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타입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CDATA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CDATA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CDATA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384334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기본 값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960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5456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0E4597-5A7F-D461-82FB-A96455454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D677CFD-F8D1-BC75-2F1A-295939134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7DF20C3-E972-D43E-5C79-08452F782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E491223E-35C3-C4B3-9423-5EE4EA3672C1}"/>
              </a:ext>
            </a:extLst>
          </p:cNvPr>
          <p:cNvSpPr txBox="1"/>
          <p:nvPr/>
        </p:nvSpPr>
        <p:spPr>
          <a:xfrm>
            <a:off x="381000" y="990600"/>
            <a:ext cx="3471557" cy="9652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4. Attribute </a:t>
            </a:r>
            <a:r>
              <a:rPr lang="ko-KR" altLang="en-US" sz="4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정의</a:t>
            </a:r>
            <a:endParaRPr lang="en" sz="40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22D9B40F-C8A3-C310-FFE8-F29AA29057B9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2B76341-8B99-9E6B-A39C-0D9DA2156B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308903"/>
              </p:ext>
            </p:extLst>
          </p:nvPr>
        </p:nvGraphicFramePr>
        <p:xfrm>
          <a:off x="4295662" y="4099927"/>
          <a:ext cx="15792675" cy="55161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64225">
                  <a:extLst>
                    <a:ext uri="{9D8B030D-6E8A-4147-A177-3AD203B41FA5}">
                      <a16:colId xmlns:a16="http://schemas.microsoft.com/office/drawing/2014/main" val="3921369662"/>
                    </a:ext>
                  </a:extLst>
                </a:gridCol>
                <a:gridCol w="5264225">
                  <a:extLst>
                    <a:ext uri="{9D8B030D-6E8A-4147-A177-3AD203B41FA5}">
                      <a16:colId xmlns:a16="http://schemas.microsoft.com/office/drawing/2014/main" val="2733496"/>
                    </a:ext>
                  </a:extLst>
                </a:gridCol>
                <a:gridCol w="5264225">
                  <a:extLst>
                    <a:ext uri="{9D8B030D-6E8A-4147-A177-3AD203B41FA5}">
                      <a16:colId xmlns:a16="http://schemas.microsoft.com/office/drawing/2014/main" val="466690532"/>
                    </a:ext>
                  </a:extLst>
                </a:gridCol>
              </a:tblGrid>
              <a:tr h="1103229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componet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</a:t>
                      </a: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type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이 </a:t>
                      </a: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Script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인 경우 </a:t>
                      </a: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Parameter 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요소에 정의될 속성들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897832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이름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type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name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316747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역할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변수 자료형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변수 이름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9672064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타입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ENUM</a:t>
                      </a:r>
                    </a:p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(float, string, int, double 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등</a:t>
                      </a: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)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CDATA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384334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기본 값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960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848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238F89-4629-8C76-A25E-BD76A5626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1526DED-E1FD-EBC8-08FE-6535A2A3C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4A07C9A-5713-6121-C96F-DDE91E42A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F2CB73C9-AF12-EACC-43C9-73CA2690D7FB}"/>
              </a:ext>
            </a:extLst>
          </p:cNvPr>
          <p:cNvSpPr txBox="1"/>
          <p:nvPr/>
        </p:nvSpPr>
        <p:spPr>
          <a:xfrm>
            <a:off x="533400" y="990600"/>
            <a:ext cx="13208000" cy="9779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5. XML </a:t>
            </a:r>
            <a:r>
              <a:rPr lang="ko-KR" altLang="en-US" sz="4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데이터 예시</a:t>
            </a:r>
            <a:endParaRPr lang="en" sz="48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29C7B06-BF1A-45FA-5366-DC1AEF22D64D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E6B9AA-4418-77CD-6BF3-90D4C4E3CE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1365" y="2295894"/>
            <a:ext cx="10406913" cy="949973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EBB0EFE-5084-83FC-48FB-B501113F58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921321" y="2726897"/>
            <a:ext cx="12345573" cy="8757970"/>
          </a:xfrm>
          <a:prstGeom prst="rect">
            <a:avLst/>
          </a:prstGeom>
        </p:spPr>
      </p:pic>
      <p:sp>
        <p:nvSpPr>
          <p:cNvPr id="11" name="TextBox 17">
            <a:extLst>
              <a:ext uri="{FF2B5EF4-FFF2-40B4-BE49-F238E27FC236}">
                <a16:creationId xmlns:a16="http://schemas.microsoft.com/office/drawing/2014/main" id="{1EFD28DD-1A54-ED81-1D7A-01DF77D1D8B3}"/>
              </a:ext>
            </a:extLst>
          </p:cNvPr>
          <p:cNvSpPr txBox="1"/>
          <p:nvPr/>
        </p:nvSpPr>
        <p:spPr>
          <a:xfrm>
            <a:off x="1005135" y="11823700"/>
            <a:ext cx="9690100" cy="1270000"/>
          </a:xfrm>
          <a:prstGeom prst="rect">
            <a:avLst/>
          </a:prstGeom>
        </p:spPr>
        <p:txBody>
          <a:bodyPr lIns="0" tIns="170376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3600" b="0" i="0" u="none" strike="noStrike" spc="-134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다양한 유형의 컴포넌트</a:t>
            </a:r>
            <a:endParaRPr lang="en" sz="3600" b="0" i="0" u="none" strike="noStrike" spc="-134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BA9B7376-75F5-95A1-4B9C-06D3B84AF294}"/>
              </a:ext>
            </a:extLst>
          </p:cNvPr>
          <p:cNvSpPr txBox="1"/>
          <p:nvPr/>
        </p:nvSpPr>
        <p:spPr>
          <a:xfrm>
            <a:off x="13249057" y="11795626"/>
            <a:ext cx="9690100" cy="1270000"/>
          </a:xfrm>
          <a:prstGeom prst="rect">
            <a:avLst/>
          </a:prstGeom>
        </p:spPr>
        <p:txBody>
          <a:bodyPr lIns="0" tIns="170376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3600" b="0" i="0" u="none" strike="noStrike" spc="-134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부모 관계가 존재하는 오브젝트</a:t>
            </a:r>
            <a:endParaRPr lang="en" sz="3600" b="0" i="0" u="none" strike="noStrike" spc="-134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4834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C49EC8-65FC-BE95-1697-87FBD8361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B114633-D2E9-C69D-4B6C-429FBA1FD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16F78C7-DED0-6E5D-0D16-70EF781AD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06A7D927-FCB9-D8DE-4964-7901AC98C6F5}"/>
              </a:ext>
            </a:extLst>
          </p:cNvPr>
          <p:cNvSpPr txBox="1"/>
          <p:nvPr/>
        </p:nvSpPr>
        <p:spPr>
          <a:xfrm>
            <a:off x="533400" y="990600"/>
            <a:ext cx="13208000" cy="9779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6. </a:t>
            </a:r>
            <a:r>
              <a:rPr lang="en-US" sz="4800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DTD</a:t>
            </a:r>
            <a:r>
              <a:rPr lang="ko-KR" altLang="en-US" sz="4800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구조도</a:t>
            </a:r>
            <a:endParaRPr lang="en" sz="48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08523C22-D9A0-9DFA-57FE-ACE3AD256CCC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0E0FEACB-4421-1532-CC94-6A18896A9CE5}"/>
              </a:ext>
            </a:extLst>
          </p:cNvPr>
          <p:cNvSpPr txBox="1"/>
          <p:nvPr/>
        </p:nvSpPr>
        <p:spPr>
          <a:xfrm>
            <a:off x="3846429" y="1156034"/>
            <a:ext cx="5041900" cy="552450"/>
          </a:xfrm>
          <a:prstGeom prst="rect">
            <a:avLst/>
          </a:prstGeom>
        </p:spPr>
        <p:txBody>
          <a:bodyPr lIns="0" tIns="170376" rIns="0" bIns="0" rtlCol="0" anchor="t"/>
          <a:lstStyle/>
          <a:p>
            <a:pPr lvl="0">
              <a:lnSpc>
                <a:spcPct val="99600"/>
              </a:lnSpc>
            </a:pPr>
            <a:endParaRPr lang="en" sz="3600" b="0" i="0" u="none" strike="noStrike" spc="-134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7972B69-BA19-4D60-7135-94AC9456208A}"/>
              </a:ext>
            </a:extLst>
          </p:cNvPr>
          <p:cNvSpPr/>
          <p:nvPr/>
        </p:nvSpPr>
        <p:spPr>
          <a:xfrm>
            <a:off x="704850" y="2146300"/>
            <a:ext cx="4495800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project (scene+)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F05A400-CFEB-A17E-11B2-CB88F072481D}"/>
              </a:ext>
            </a:extLst>
          </p:cNvPr>
          <p:cNvSpPr/>
          <p:nvPr/>
        </p:nvSpPr>
        <p:spPr>
          <a:xfrm>
            <a:off x="1358232" y="3136900"/>
            <a:ext cx="4495800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scene (object*)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5466A73-1E37-9631-E504-3472DE0808D1}"/>
              </a:ext>
            </a:extLst>
          </p:cNvPr>
          <p:cNvSpPr/>
          <p:nvPr/>
        </p:nvSpPr>
        <p:spPr>
          <a:xfrm>
            <a:off x="2147971" y="4203032"/>
            <a:ext cx="7412121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object( transform, components)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BF3D598-736A-47CF-61DC-52AA86423010}"/>
              </a:ext>
            </a:extLst>
          </p:cNvPr>
          <p:cNvSpPr/>
          <p:nvPr/>
        </p:nvSpPr>
        <p:spPr>
          <a:xfrm>
            <a:off x="2952749" y="5371432"/>
            <a:ext cx="7412121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transform (position, rotation, scale)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D8606EA-CE34-9525-9931-4AD55402FD58}"/>
              </a:ext>
            </a:extLst>
          </p:cNvPr>
          <p:cNvSpPr/>
          <p:nvPr/>
        </p:nvSpPr>
        <p:spPr>
          <a:xfrm>
            <a:off x="3846429" y="6437564"/>
            <a:ext cx="4495800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position EMPTY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AAD1603-CF08-A087-34EB-2B329EA25DB8}"/>
              </a:ext>
            </a:extLst>
          </p:cNvPr>
          <p:cNvSpPr/>
          <p:nvPr/>
        </p:nvSpPr>
        <p:spPr>
          <a:xfrm>
            <a:off x="3846429" y="7431507"/>
            <a:ext cx="4495800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rotation EMPTY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B504A72-16E6-9F33-B33B-73793CCC07B3}"/>
              </a:ext>
            </a:extLst>
          </p:cNvPr>
          <p:cNvSpPr/>
          <p:nvPr/>
        </p:nvSpPr>
        <p:spPr>
          <a:xfrm>
            <a:off x="3846429" y="8355264"/>
            <a:ext cx="4495800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scale EMPTY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025B712-D40C-B345-6DDD-FBF37D88F7F6}"/>
              </a:ext>
            </a:extLst>
          </p:cNvPr>
          <p:cNvSpPr/>
          <p:nvPr/>
        </p:nvSpPr>
        <p:spPr>
          <a:xfrm>
            <a:off x="2952749" y="9523664"/>
            <a:ext cx="6115051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components (component*)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BE2AB1D-DD3C-7B34-9B62-E6AF671CE287}"/>
              </a:ext>
            </a:extLst>
          </p:cNvPr>
          <p:cNvSpPr/>
          <p:nvPr/>
        </p:nvSpPr>
        <p:spPr>
          <a:xfrm>
            <a:off x="3846428" y="10507280"/>
            <a:ext cx="19356471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6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component ((FieldOfView, NearClip, FarClip) |  (name, parameter*) |  (LightType, Intensity, Color)| … |  (Mesh_ref) )?</a:t>
            </a:r>
            <a:endParaRPr lang="ko-KR" altLang="en-US" sz="26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6AE41EF-04A5-AA5D-D786-57E772CAE048}"/>
              </a:ext>
            </a:extLst>
          </p:cNvPr>
          <p:cNvSpPr/>
          <p:nvPr/>
        </p:nvSpPr>
        <p:spPr>
          <a:xfrm>
            <a:off x="4544928" y="11495707"/>
            <a:ext cx="6199271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component_child1 PCDATA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82C1F50-8CF3-29B9-CE99-DD62C1B9DBDC}"/>
              </a:ext>
            </a:extLst>
          </p:cNvPr>
          <p:cNvSpPr/>
          <p:nvPr/>
        </p:nvSpPr>
        <p:spPr>
          <a:xfrm>
            <a:off x="4544929" y="12522234"/>
            <a:ext cx="6199271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component_child2 PCDATA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A684F637-47B8-2E9A-CD39-EE4C39772EC2}"/>
              </a:ext>
            </a:extLst>
          </p:cNvPr>
          <p:cNvCxnSpPr>
            <a:endCxn id="7" idx="1"/>
          </p:cNvCxnSpPr>
          <p:nvPr/>
        </p:nvCxnSpPr>
        <p:spPr>
          <a:xfrm rot="16200000" flipH="1">
            <a:off x="866441" y="3019759"/>
            <a:ext cx="615950" cy="367632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0333045F-0B2A-96B0-5484-345377086A35}"/>
              </a:ext>
            </a:extLst>
          </p:cNvPr>
          <p:cNvCxnSpPr/>
          <p:nvPr/>
        </p:nvCxnSpPr>
        <p:spPr>
          <a:xfrm rot="16200000" flipH="1">
            <a:off x="1656180" y="4092909"/>
            <a:ext cx="615950" cy="367632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92864982-6352-25DA-D52C-3594F1655618}"/>
              </a:ext>
            </a:extLst>
          </p:cNvPr>
          <p:cNvCxnSpPr/>
          <p:nvPr/>
        </p:nvCxnSpPr>
        <p:spPr>
          <a:xfrm rot="16200000" flipH="1">
            <a:off x="2460958" y="5166059"/>
            <a:ext cx="615950" cy="367632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2F419846-A92C-DC5F-A12E-6612DA6C1A0A}"/>
              </a:ext>
            </a:extLst>
          </p:cNvPr>
          <p:cNvCxnSpPr>
            <a:cxnSpLocks/>
            <a:endCxn id="17" idx="1"/>
          </p:cNvCxnSpPr>
          <p:nvPr/>
        </p:nvCxnSpPr>
        <p:spPr>
          <a:xfrm rot="16200000" flipH="1">
            <a:off x="329446" y="7275011"/>
            <a:ext cx="4878974" cy="367632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718F9A05-5D51-FED9-CF49-1AC986E62373}"/>
              </a:ext>
            </a:extLst>
          </p:cNvPr>
          <p:cNvCxnSpPr/>
          <p:nvPr/>
        </p:nvCxnSpPr>
        <p:spPr>
          <a:xfrm rot="16200000" flipH="1">
            <a:off x="3354638" y="6279148"/>
            <a:ext cx="615950" cy="367632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E4DC2042-1DB4-F9CB-DDC8-4E573C5C6BE2}"/>
              </a:ext>
            </a:extLst>
          </p:cNvPr>
          <p:cNvCxnSpPr>
            <a:cxnSpLocks/>
            <a:endCxn id="15" idx="1"/>
          </p:cNvCxnSpPr>
          <p:nvPr/>
        </p:nvCxnSpPr>
        <p:spPr>
          <a:xfrm rot="16200000" flipH="1">
            <a:off x="2837029" y="6796757"/>
            <a:ext cx="1651168" cy="367632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EFCBD452-413B-BE6B-2907-8B946548B056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43566" y="7307430"/>
            <a:ext cx="2614030" cy="343570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60A5920E-93AE-4D3D-1199-9BC47FD14B82}"/>
              </a:ext>
            </a:extLst>
          </p:cNvPr>
          <p:cNvCxnSpPr>
            <a:cxnSpLocks/>
            <a:endCxn id="21" idx="1"/>
          </p:cNvCxnSpPr>
          <p:nvPr/>
        </p:nvCxnSpPr>
        <p:spPr>
          <a:xfrm rot="16200000" flipH="1">
            <a:off x="3355722" y="10391224"/>
            <a:ext cx="613778" cy="367634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EC17F12C-5F4F-6368-9CC4-1974402A7DD7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59905" y="11398702"/>
            <a:ext cx="613777" cy="367633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EA28EE02-6330-44C4-D157-683DD0389A6F}"/>
              </a:ext>
            </a:extLst>
          </p:cNvPr>
          <p:cNvCxnSpPr>
            <a:cxnSpLocks/>
            <a:endCxn id="25" idx="1"/>
          </p:cNvCxnSpPr>
          <p:nvPr/>
        </p:nvCxnSpPr>
        <p:spPr>
          <a:xfrm rot="16200000" flipH="1">
            <a:off x="3550484" y="11902439"/>
            <a:ext cx="1621254" cy="367636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5810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F61969-0D17-4588-1B12-FB8655B2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B6B25C8-787D-1CB9-CA68-3CC6D52B9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A78BEA4-AA1C-FC0A-B20F-47C3E1D33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80F54429-63E4-E886-804F-C6C9E03DC6AA}"/>
              </a:ext>
            </a:extLst>
          </p:cNvPr>
          <p:cNvSpPr txBox="1"/>
          <p:nvPr/>
        </p:nvSpPr>
        <p:spPr>
          <a:xfrm>
            <a:off x="3846429" y="222250"/>
            <a:ext cx="2209800" cy="7493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2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6. </a:t>
            </a:r>
            <a:r>
              <a:rPr lang="en-US" sz="2800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DTD</a:t>
            </a:r>
            <a:r>
              <a:rPr lang="ko-KR" altLang="en-US" sz="2800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구조도</a:t>
            </a:r>
            <a:endParaRPr lang="en" sz="28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00FEC686-4D52-A8D3-E349-02D07CC7309F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E573F049-B10F-AA91-A56F-90EB7E53B249}"/>
              </a:ext>
            </a:extLst>
          </p:cNvPr>
          <p:cNvSpPr txBox="1"/>
          <p:nvPr/>
        </p:nvSpPr>
        <p:spPr>
          <a:xfrm>
            <a:off x="3846429" y="1156034"/>
            <a:ext cx="5041900" cy="552450"/>
          </a:xfrm>
          <a:prstGeom prst="rect">
            <a:avLst/>
          </a:prstGeom>
        </p:spPr>
        <p:txBody>
          <a:bodyPr lIns="0" tIns="170376" rIns="0" bIns="0" rtlCol="0" anchor="t"/>
          <a:lstStyle/>
          <a:p>
            <a:pPr lvl="0">
              <a:lnSpc>
                <a:spcPct val="99600"/>
              </a:lnSpc>
            </a:pPr>
            <a:endParaRPr lang="en" sz="3600" b="0" i="0" u="none" strike="noStrike" spc="-134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2118A6A-19BD-7C11-13DE-A0CFB7AE0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2643" y="1262011"/>
            <a:ext cx="9069471" cy="1214386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58CC05A-0BA5-1E80-26BE-78E30AD799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7631" y="2997367"/>
            <a:ext cx="11212795" cy="772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148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4A156A-700B-DB05-34E1-3A87F5D6A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D702630-5EB9-30B1-C2DC-399CC89EC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E2477D7-D3E5-D533-8F2D-E4D171AAC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234B4104-1560-994B-40F2-0A205B0CC80D}"/>
              </a:ext>
            </a:extLst>
          </p:cNvPr>
          <p:cNvSpPr txBox="1"/>
          <p:nvPr/>
        </p:nvSpPr>
        <p:spPr>
          <a:xfrm>
            <a:off x="3846429" y="222250"/>
            <a:ext cx="2209800" cy="7493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2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6. </a:t>
            </a:r>
            <a:r>
              <a:rPr lang="en-US" sz="2800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DTD</a:t>
            </a:r>
            <a:r>
              <a:rPr lang="ko-KR" altLang="en-US" sz="2800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구조도</a:t>
            </a:r>
            <a:endParaRPr lang="en" sz="28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451ECB72-2BB7-3BE0-B019-2A82D78D086B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C058058D-622D-8195-53E1-E89FAA451979}"/>
              </a:ext>
            </a:extLst>
          </p:cNvPr>
          <p:cNvSpPr txBox="1"/>
          <p:nvPr/>
        </p:nvSpPr>
        <p:spPr>
          <a:xfrm>
            <a:off x="3846429" y="1156034"/>
            <a:ext cx="5041900" cy="552450"/>
          </a:xfrm>
          <a:prstGeom prst="rect">
            <a:avLst/>
          </a:prstGeom>
        </p:spPr>
        <p:txBody>
          <a:bodyPr lIns="0" tIns="170376" rIns="0" bIns="0" rtlCol="0" anchor="t"/>
          <a:lstStyle/>
          <a:p>
            <a:pPr lvl="0">
              <a:lnSpc>
                <a:spcPct val="99600"/>
              </a:lnSpc>
            </a:pPr>
            <a:endParaRPr lang="en" sz="3600" b="0" i="0" u="none" strike="noStrike" spc="-134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1B1826D-1A62-A1E2-BCE8-B0D402B9D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440" y="0"/>
            <a:ext cx="11565119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628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3268A3-33DE-99A3-D0B5-856083EB0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3F03755-FA0D-7A5E-9CD4-5ECB3FCCF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A5CC5745-D307-5484-AC15-A049E3C96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13E20A97-DD86-A86B-FAFD-417E6363E7B0}"/>
              </a:ext>
            </a:extLst>
          </p:cNvPr>
          <p:cNvSpPr txBox="1"/>
          <p:nvPr/>
        </p:nvSpPr>
        <p:spPr>
          <a:xfrm>
            <a:off x="533400" y="990600"/>
            <a:ext cx="13208000" cy="9779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7. DTD </a:t>
            </a:r>
            <a:r>
              <a:rPr lang="ko-KR" altLang="en-US" sz="4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실행내역</a:t>
            </a:r>
            <a:endParaRPr lang="en" sz="48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28F48504-88E6-725C-7DE6-3691A9219826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8C5BFE72-D881-27B7-3E01-33A401FC9B40}"/>
              </a:ext>
            </a:extLst>
          </p:cNvPr>
          <p:cNvSpPr txBox="1"/>
          <p:nvPr/>
        </p:nvSpPr>
        <p:spPr>
          <a:xfrm>
            <a:off x="3846429" y="1156034"/>
            <a:ext cx="5041900" cy="552450"/>
          </a:xfrm>
          <a:prstGeom prst="rect">
            <a:avLst/>
          </a:prstGeom>
        </p:spPr>
        <p:txBody>
          <a:bodyPr lIns="0" tIns="170376" rIns="0" bIns="0" rtlCol="0" anchor="t"/>
          <a:lstStyle/>
          <a:p>
            <a:pPr lvl="0">
              <a:lnSpc>
                <a:spcPct val="99600"/>
              </a:lnSpc>
            </a:pPr>
            <a:endParaRPr lang="en" sz="3600" b="0" i="0" u="none" strike="noStrike" spc="-134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pic>
        <p:nvPicPr>
          <p:cNvPr id="5" name="그림 4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90ECCB-8842-0CB9-FF0D-28536C4D7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380" y="2222500"/>
            <a:ext cx="11080645" cy="1054662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A3B5E49-00F1-E418-F8AB-198A323353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0" y="6516619"/>
            <a:ext cx="7086600" cy="68276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B257C2A-141A-3FB3-8791-22BA1DA69C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0" y="7134067"/>
            <a:ext cx="11119269" cy="53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958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094989-361F-9AC4-33D8-64A5FE88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42BE412-FAC1-9552-A4A7-B26E974F6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8BC4B3A-E4FD-1B92-71B1-696065C86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DA86BB9D-3A6F-31C9-1E8E-5A5E5927E7FD}"/>
              </a:ext>
            </a:extLst>
          </p:cNvPr>
          <p:cNvSpPr txBox="1"/>
          <p:nvPr/>
        </p:nvSpPr>
        <p:spPr>
          <a:xfrm>
            <a:off x="533400" y="990600"/>
            <a:ext cx="4267200" cy="9779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8. XSD </a:t>
            </a:r>
            <a:r>
              <a:rPr lang="ko-KR" altLang="en-US" sz="4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구조도</a:t>
            </a:r>
            <a:endParaRPr lang="en" sz="48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C41204D2-C26C-C412-C924-A6F593748FD0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B729AB1E-412B-F900-078A-0675D4470672}"/>
              </a:ext>
            </a:extLst>
          </p:cNvPr>
          <p:cNvSpPr txBox="1"/>
          <p:nvPr/>
        </p:nvSpPr>
        <p:spPr>
          <a:xfrm>
            <a:off x="3846429" y="1156034"/>
            <a:ext cx="5041900" cy="552450"/>
          </a:xfrm>
          <a:prstGeom prst="rect">
            <a:avLst/>
          </a:prstGeom>
        </p:spPr>
        <p:txBody>
          <a:bodyPr lIns="0" tIns="170376" rIns="0" bIns="0" rtlCol="0" anchor="t"/>
          <a:lstStyle/>
          <a:p>
            <a:pPr lvl="0">
              <a:lnSpc>
                <a:spcPct val="99600"/>
              </a:lnSpc>
            </a:pPr>
            <a:endParaRPr lang="en" sz="3600" b="0" i="0" u="none" strike="noStrike" spc="-134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7CA7DFD-F486-F49C-4391-8F86E27950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000" y="2514600"/>
            <a:ext cx="6629400" cy="9467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B49C6D9-EC2E-2CA1-ABF5-6E64CFB425A0}"/>
              </a:ext>
            </a:extLst>
          </p:cNvPr>
          <p:cNvSpPr/>
          <p:nvPr/>
        </p:nvSpPr>
        <p:spPr>
          <a:xfrm>
            <a:off x="10901278" y="2819400"/>
            <a:ext cx="9291722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namespace = http://Project.org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142BD0-3910-D463-8FB7-C3A05FDAD991}"/>
              </a:ext>
            </a:extLst>
          </p:cNvPr>
          <p:cNvSpPr txBox="1"/>
          <p:nvPr/>
        </p:nvSpPr>
        <p:spPr>
          <a:xfrm>
            <a:off x="4233779" y="1219534"/>
            <a:ext cx="4267200" cy="9779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2800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namespace</a:t>
            </a:r>
            <a:r>
              <a:rPr lang="ko-KR" altLang="en-US" sz="2800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배치</a:t>
            </a:r>
            <a:endParaRPr lang="en" sz="28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B168A06-A869-E863-C125-A5C19F912F0E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2671678" y="3187700"/>
            <a:ext cx="8229600" cy="635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오른쪽 중괄호 14">
            <a:extLst>
              <a:ext uri="{FF2B5EF4-FFF2-40B4-BE49-F238E27FC236}">
                <a16:creationId xmlns:a16="http://schemas.microsoft.com/office/drawing/2014/main" id="{81417438-E2C7-89E4-0FFB-323FC7B26F8F}"/>
              </a:ext>
            </a:extLst>
          </p:cNvPr>
          <p:cNvSpPr/>
          <p:nvPr/>
        </p:nvSpPr>
        <p:spPr>
          <a:xfrm>
            <a:off x="7207250" y="3835400"/>
            <a:ext cx="1174750" cy="4229100"/>
          </a:xfrm>
          <a:prstGeom prst="rightBrac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C5F2627-B77A-12B1-947B-A823A28D4C06}"/>
              </a:ext>
            </a:extLst>
          </p:cNvPr>
          <p:cNvSpPr/>
          <p:nvPr/>
        </p:nvSpPr>
        <p:spPr>
          <a:xfrm>
            <a:off x="10901278" y="5575300"/>
            <a:ext cx="9291722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namespace = http://ProjectScene.org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47CED1C-2E25-D797-5D45-56ABBBA9FDDB}"/>
              </a:ext>
            </a:extLst>
          </p:cNvPr>
          <p:cNvCxnSpPr>
            <a:cxnSpLocks/>
            <a:stCxn id="16" idx="1"/>
            <a:endCxn id="15" idx="1"/>
          </p:cNvCxnSpPr>
          <p:nvPr/>
        </p:nvCxnSpPr>
        <p:spPr>
          <a:xfrm flipH="1">
            <a:off x="8382000" y="5949950"/>
            <a:ext cx="251927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B51B812-AD13-8558-3280-122187E27E99}"/>
              </a:ext>
            </a:extLst>
          </p:cNvPr>
          <p:cNvSpPr/>
          <p:nvPr/>
        </p:nvSpPr>
        <p:spPr>
          <a:xfrm>
            <a:off x="10901278" y="8331200"/>
            <a:ext cx="9291722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namespace = http://component.org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151B388-A0A3-E21E-1EC4-04047622CAC5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6786478" y="8604250"/>
            <a:ext cx="4114800" cy="1016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263B5A5-F8B6-886C-93B1-24B3083BF0D6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6938878" y="8705850"/>
            <a:ext cx="3962400" cy="47625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410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D209E6-E23B-140F-38A3-5A03C2C1A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98C8DF3-D368-3329-D600-4239FBAFE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DB4C824-8145-2A8F-FFE5-0EB830F96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D41802D9-BBE3-1D14-EBA8-1B2D7E1BA0E9}"/>
              </a:ext>
            </a:extLst>
          </p:cNvPr>
          <p:cNvSpPr txBox="1"/>
          <p:nvPr/>
        </p:nvSpPr>
        <p:spPr>
          <a:xfrm>
            <a:off x="533400" y="990600"/>
            <a:ext cx="13208000" cy="9779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8. XSD </a:t>
            </a:r>
            <a:r>
              <a:rPr lang="ko-KR" altLang="en-US" sz="4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구조도</a:t>
            </a:r>
            <a:endParaRPr lang="en" sz="48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0AF89E7-D475-7A5D-9C3B-3E7B576BEB05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C59CD314-DB35-D93D-0849-E4464B3D30B7}"/>
              </a:ext>
            </a:extLst>
          </p:cNvPr>
          <p:cNvSpPr txBox="1"/>
          <p:nvPr/>
        </p:nvSpPr>
        <p:spPr>
          <a:xfrm>
            <a:off x="3846429" y="1156034"/>
            <a:ext cx="5041900" cy="552450"/>
          </a:xfrm>
          <a:prstGeom prst="rect">
            <a:avLst/>
          </a:prstGeom>
        </p:spPr>
        <p:txBody>
          <a:bodyPr lIns="0" tIns="170376" rIns="0" bIns="0" rtlCol="0" anchor="t"/>
          <a:lstStyle/>
          <a:p>
            <a:pPr lvl="0">
              <a:lnSpc>
                <a:spcPct val="99600"/>
              </a:lnSpc>
            </a:pPr>
            <a:endParaRPr lang="en" sz="3600" b="0" i="0" u="none" strike="noStrike" spc="-134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6CB9344-2A7B-09FB-6D8E-F8B80780D022}"/>
              </a:ext>
            </a:extLst>
          </p:cNvPr>
          <p:cNvSpPr/>
          <p:nvPr/>
        </p:nvSpPr>
        <p:spPr>
          <a:xfrm>
            <a:off x="704850" y="2146300"/>
            <a:ext cx="4495800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project (scene+)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97F74B6-CA94-ADE9-815A-A9009642EB3B}"/>
              </a:ext>
            </a:extLst>
          </p:cNvPr>
          <p:cNvSpPr/>
          <p:nvPr/>
        </p:nvSpPr>
        <p:spPr>
          <a:xfrm>
            <a:off x="1358232" y="3136900"/>
            <a:ext cx="4495800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scene (object*)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DEE877D-F3AA-9B18-B2EA-097BDBAA660D}"/>
              </a:ext>
            </a:extLst>
          </p:cNvPr>
          <p:cNvSpPr/>
          <p:nvPr/>
        </p:nvSpPr>
        <p:spPr>
          <a:xfrm>
            <a:off x="2147971" y="4203032"/>
            <a:ext cx="7412121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object( transform, components)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BA644B7-C768-B502-2E26-7AA3B2DE52E5}"/>
              </a:ext>
            </a:extLst>
          </p:cNvPr>
          <p:cNvSpPr/>
          <p:nvPr/>
        </p:nvSpPr>
        <p:spPr>
          <a:xfrm>
            <a:off x="2952749" y="5371432"/>
            <a:ext cx="7412121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transform (position, rotation, scale)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5B57C05-69A9-433D-A815-1F27B603D1B7}"/>
              </a:ext>
            </a:extLst>
          </p:cNvPr>
          <p:cNvSpPr/>
          <p:nvPr/>
        </p:nvSpPr>
        <p:spPr>
          <a:xfrm>
            <a:off x="3846429" y="6437564"/>
            <a:ext cx="4495800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position EMPTY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B87FE7B-5773-79BD-0864-E887E9EFF62D}"/>
              </a:ext>
            </a:extLst>
          </p:cNvPr>
          <p:cNvSpPr/>
          <p:nvPr/>
        </p:nvSpPr>
        <p:spPr>
          <a:xfrm>
            <a:off x="3846429" y="7431507"/>
            <a:ext cx="4495800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rotation EMPTY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77EFECC-257E-3FFF-4409-9DC5E1BAD849}"/>
              </a:ext>
            </a:extLst>
          </p:cNvPr>
          <p:cNvSpPr/>
          <p:nvPr/>
        </p:nvSpPr>
        <p:spPr>
          <a:xfrm>
            <a:off x="3846429" y="8355264"/>
            <a:ext cx="4495800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scale EMPTY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47ADFD0-E780-DE69-F92A-681610F6EDE3}"/>
              </a:ext>
            </a:extLst>
          </p:cNvPr>
          <p:cNvSpPr/>
          <p:nvPr/>
        </p:nvSpPr>
        <p:spPr>
          <a:xfrm>
            <a:off x="2952749" y="9523664"/>
            <a:ext cx="6115051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components (component*)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E50735A-44E3-6B15-06A7-E8CFAB3B960C}"/>
              </a:ext>
            </a:extLst>
          </p:cNvPr>
          <p:cNvSpPr/>
          <p:nvPr/>
        </p:nvSpPr>
        <p:spPr>
          <a:xfrm>
            <a:off x="3846429" y="10507280"/>
            <a:ext cx="5221372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6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component</a:t>
            </a:r>
            <a:endParaRPr lang="ko-KR" altLang="en-US" sz="36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3F8C4EB-7842-7EE8-1958-E894428873CC}"/>
              </a:ext>
            </a:extLst>
          </p:cNvPr>
          <p:cNvSpPr/>
          <p:nvPr/>
        </p:nvSpPr>
        <p:spPr>
          <a:xfrm>
            <a:off x="4544928" y="11495707"/>
            <a:ext cx="6199271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component_child1 PCDATA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C45A91C6-6129-6DDD-E672-8151B4B6ADFD}"/>
              </a:ext>
            </a:extLst>
          </p:cNvPr>
          <p:cNvSpPr/>
          <p:nvPr/>
        </p:nvSpPr>
        <p:spPr>
          <a:xfrm>
            <a:off x="4544929" y="12522234"/>
            <a:ext cx="6199271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component_child2 PCDATA</a:t>
            </a:r>
            <a:endParaRPr lang="ko-KR" altLang="en-US" sz="32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F3B2E936-EB9C-F652-FFCB-18955F322B08}"/>
              </a:ext>
            </a:extLst>
          </p:cNvPr>
          <p:cNvCxnSpPr>
            <a:endCxn id="7" idx="1"/>
          </p:cNvCxnSpPr>
          <p:nvPr/>
        </p:nvCxnSpPr>
        <p:spPr>
          <a:xfrm rot="16200000" flipH="1">
            <a:off x="866441" y="3019759"/>
            <a:ext cx="615950" cy="367632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A07E9975-800A-94E3-86C3-FF0314C254A3}"/>
              </a:ext>
            </a:extLst>
          </p:cNvPr>
          <p:cNvCxnSpPr/>
          <p:nvPr/>
        </p:nvCxnSpPr>
        <p:spPr>
          <a:xfrm rot="16200000" flipH="1">
            <a:off x="1656180" y="4092909"/>
            <a:ext cx="615950" cy="367632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73D72335-8F6E-4C32-368A-95E26A4935AD}"/>
              </a:ext>
            </a:extLst>
          </p:cNvPr>
          <p:cNvCxnSpPr/>
          <p:nvPr/>
        </p:nvCxnSpPr>
        <p:spPr>
          <a:xfrm rot="16200000" flipH="1">
            <a:off x="2460958" y="5166059"/>
            <a:ext cx="615950" cy="367632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ABD98652-2308-91F9-A99E-05200585F0CD}"/>
              </a:ext>
            </a:extLst>
          </p:cNvPr>
          <p:cNvCxnSpPr>
            <a:cxnSpLocks/>
            <a:endCxn id="17" idx="1"/>
          </p:cNvCxnSpPr>
          <p:nvPr/>
        </p:nvCxnSpPr>
        <p:spPr>
          <a:xfrm rot="16200000" flipH="1">
            <a:off x="329446" y="7275011"/>
            <a:ext cx="4878974" cy="367632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A8032BC1-D171-B3F0-868A-2B12EB95C607}"/>
              </a:ext>
            </a:extLst>
          </p:cNvPr>
          <p:cNvCxnSpPr/>
          <p:nvPr/>
        </p:nvCxnSpPr>
        <p:spPr>
          <a:xfrm rot="16200000" flipH="1">
            <a:off x="3354638" y="6279148"/>
            <a:ext cx="615950" cy="367632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3AC19EC8-12E6-2AFE-A0D6-55B55056E935}"/>
              </a:ext>
            </a:extLst>
          </p:cNvPr>
          <p:cNvCxnSpPr>
            <a:cxnSpLocks/>
            <a:endCxn id="15" idx="1"/>
          </p:cNvCxnSpPr>
          <p:nvPr/>
        </p:nvCxnSpPr>
        <p:spPr>
          <a:xfrm rot="16200000" flipH="1">
            <a:off x="2837029" y="6796757"/>
            <a:ext cx="1651168" cy="367632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73B7878E-1146-C516-7571-E8813F15A88B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43566" y="7307430"/>
            <a:ext cx="2614030" cy="343570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20102360-5066-8695-07E7-659B11890770}"/>
              </a:ext>
            </a:extLst>
          </p:cNvPr>
          <p:cNvCxnSpPr>
            <a:cxnSpLocks/>
            <a:endCxn id="21" idx="1"/>
          </p:cNvCxnSpPr>
          <p:nvPr/>
        </p:nvCxnSpPr>
        <p:spPr>
          <a:xfrm rot="16200000" flipH="1">
            <a:off x="3355722" y="10391223"/>
            <a:ext cx="613778" cy="367636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764FABA7-979F-4386-7D13-6C4B7C72B7E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59905" y="11398702"/>
            <a:ext cx="613777" cy="367633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48BE6ABC-00AE-89EC-5F66-3F6E81328B81}"/>
              </a:ext>
            </a:extLst>
          </p:cNvPr>
          <p:cNvCxnSpPr>
            <a:cxnSpLocks/>
            <a:endCxn id="25" idx="1"/>
          </p:cNvCxnSpPr>
          <p:nvPr/>
        </p:nvCxnSpPr>
        <p:spPr>
          <a:xfrm rot="16200000" flipH="1">
            <a:off x="3550484" y="11902439"/>
            <a:ext cx="1621254" cy="367636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" name="순서도: 문서 4">
            <a:extLst>
              <a:ext uri="{FF2B5EF4-FFF2-40B4-BE49-F238E27FC236}">
                <a16:creationId xmlns:a16="http://schemas.microsoft.com/office/drawing/2014/main" id="{F3A7A02D-1276-7ECC-3C87-60F0B5A1A1C9}"/>
              </a:ext>
            </a:extLst>
          </p:cNvPr>
          <p:cNvSpPr/>
          <p:nvPr/>
        </p:nvSpPr>
        <p:spPr>
          <a:xfrm>
            <a:off x="15215602" y="533400"/>
            <a:ext cx="5739398" cy="1727200"/>
          </a:xfrm>
          <a:prstGeom prst="flowChartDocumen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40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main.xsd</a:t>
            </a:r>
          </a:p>
          <a:p>
            <a:pPr algn="ctr"/>
            <a:r>
              <a:rPr lang="en-US" altLang="ko-KR" sz="4000"/>
              <a:t>http://Project.org</a:t>
            </a:r>
          </a:p>
          <a:p>
            <a:pPr algn="ctr"/>
            <a:endParaRPr lang="ko-KR" altLang="en-US" sz="40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8" name="순서도: 문서 7">
            <a:extLst>
              <a:ext uri="{FF2B5EF4-FFF2-40B4-BE49-F238E27FC236}">
                <a16:creationId xmlns:a16="http://schemas.microsoft.com/office/drawing/2014/main" id="{FC0E30E2-4EEF-704B-89FA-D434B391C48C}"/>
              </a:ext>
            </a:extLst>
          </p:cNvPr>
          <p:cNvSpPr/>
          <p:nvPr/>
        </p:nvSpPr>
        <p:spPr>
          <a:xfrm>
            <a:off x="15215602" y="3286124"/>
            <a:ext cx="5739398" cy="1727200"/>
          </a:xfrm>
          <a:prstGeom prst="flowChartDocumen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40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import1.xsd</a:t>
            </a:r>
          </a:p>
          <a:p>
            <a:pPr algn="ctr"/>
            <a:r>
              <a:rPr lang="en-US" altLang="ko-KR" sz="4000"/>
              <a:t>http://ProjectScene.org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6AE52F4-1DE0-0D77-6B6C-996C66EDDE86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 flipV="1">
            <a:off x="5200650" y="1397000"/>
            <a:ext cx="10014952" cy="112395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3F37E82B-6285-B382-C68D-B823B0702F1E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5854032" y="3511550"/>
            <a:ext cx="9361570" cy="63817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A5572DA-96FB-6E16-3CE0-0B0303F35C3C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18085301" y="2146413"/>
            <a:ext cx="0" cy="113971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A564C30-3CC9-E570-E52D-2725281986B5}"/>
              </a:ext>
            </a:extLst>
          </p:cNvPr>
          <p:cNvSpPr txBox="1"/>
          <p:nvPr/>
        </p:nvSpPr>
        <p:spPr>
          <a:xfrm>
            <a:off x="18085301" y="2376269"/>
            <a:ext cx="2473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import</a:t>
            </a:r>
            <a:endParaRPr lang="ko-KR" altLang="en-US" sz="36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42" name="순서도: 문서 41">
            <a:extLst>
              <a:ext uri="{FF2B5EF4-FFF2-40B4-BE49-F238E27FC236}">
                <a16:creationId xmlns:a16="http://schemas.microsoft.com/office/drawing/2014/main" id="{B8FA9666-2B12-B576-4E68-FD4DC8A805BD}"/>
              </a:ext>
            </a:extLst>
          </p:cNvPr>
          <p:cNvSpPr/>
          <p:nvPr/>
        </p:nvSpPr>
        <p:spPr>
          <a:xfrm>
            <a:off x="15215602" y="6040891"/>
            <a:ext cx="5739398" cy="1727200"/>
          </a:xfrm>
          <a:prstGeom prst="flowChartDocumen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40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include1.xsd</a:t>
            </a:r>
          </a:p>
          <a:p>
            <a:pPr algn="ctr"/>
            <a:r>
              <a:rPr lang="en-US" altLang="ko-KR" sz="4000"/>
              <a:t>http://ProjectScene.org</a:t>
            </a: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DF732BD9-8006-E4AD-5760-74A8CC359A40}"/>
              </a:ext>
            </a:extLst>
          </p:cNvPr>
          <p:cNvCxnSpPr>
            <a:cxnSpLocks/>
          </p:cNvCxnSpPr>
          <p:nvPr/>
        </p:nvCxnSpPr>
        <p:spPr>
          <a:xfrm>
            <a:off x="18038676" y="4930388"/>
            <a:ext cx="0" cy="113971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039F028-8F4F-0488-A2CF-DF5840004359}"/>
              </a:ext>
            </a:extLst>
          </p:cNvPr>
          <p:cNvSpPr txBox="1"/>
          <p:nvPr/>
        </p:nvSpPr>
        <p:spPr>
          <a:xfrm>
            <a:off x="18038676" y="5160244"/>
            <a:ext cx="2473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include</a:t>
            </a:r>
            <a:endParaRPr lang="ko-KR" altLang="en-US" sz="36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2A5B74CA-4C58-E887-C9F5-5AE1B30C869B}"/>
              </a:ext>
            </a:extLst>
          </p:cNvPr>
          <p:cNvCxnSpPr>
            <a:cxnSpLocks/>
            <a:stCxn id="10" idx="3"/>
            <a:endCxn id="42" idx="1"/>
          </p:cNvCxnSpPr>
          <p:nvPr/>
        </p:nvCxnSpPr>
        <p:spPr>
          <a:xfrm>
            <a:off x="9560092" y="4577682"/>
            <a:ext cx="5655510" cy="232680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순서도: 문서 51">
            <a:extLst>
              <a:ext uri="{FF2B5EF4-FFF2-40B4-BE49-F238E27FC236}">
                <a16:creationId xmlns:a16="http://schemas.microsoft.com/office/drawing/2014/main" id="{54189B2A-540D-92BE-FB5D-431B793351FB}"/>
              </a:ext>
            </a:extLst>
          </p:cNvPr>
          <p:cNvSpPr/>
          <p:nvPr/>
        </p:nvSpPr>
        <p:spPr>
          <a:xfrm>
            <a:off x="15165806" y="8795658"/>
            <a:ext cx="5739398" cy="1727200"/>
          </a:xfrm>
          <a:prstGeom prst="flowChartDocumen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40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include2.xsd</a:t>
            </a:r>
          </a:p>
          <a:p>
            <a:pPr algn="ctr"/>
            <a:r>
              <a:rPr lang="en-US" altLang="ko-KR" sz="4000"/>
              <a:t>http://ProjectScene.org</a:t>
            </a: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E40BA529-09E8-C0A0-E0FC-F672661B6D03}"/>
              </a:ext>
            </a:extLst>
          </p:cNvPr>
          <p:cNvCxnSpPr>
            <a:cxnSpLocks/>
          </p:cNvCxnSpPr>
          <p:nvPr/>
        </p:nvCxnSpPr>
        <p:spPr>
          <a:xfrm>
            <a:off x="17988880" y="7685155"/>
            <a:ext cx="0" cy="113971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E23889D-86FA-9D4B-05F4-500755D03A9F}"/>
              </a:ext>
            </a:extLst>
          </p:cNvPr>
          <p:cNvSpPr txBox="1"/>
          <p:nvPr/>
        </p:nvSpPr>
        <p:spPr>
          <a:xfrm>
            <a:off x="17988880" y="7915011"/>
            <a:ext cx="2473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include</a:t>
            </a:r>
            <a:endParaRPr lang="ko-KR" altLang="en-US" sz="36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55" name="순서도: 문서 54">
            <a:extLst>
              <a:ext uri="{FF2B5EF4-FFF2-40B4-BE49-F238E27FC236}">
                <a16:creationId xmlns:a16="http://schemas.microsoft.com/office/drawing/2014/main" id="{9E07AAC3-8B21-E045-BE33-183AFAF8DF4E}"/>
              </a:ext>
            </a:extLst>
          </p:cNvPr>
          <p:cNvSpPr/>
          <p:nvPr/>
        </p:nvSpPr>
        <p:spPr>
          <a:xfrm>
            <a:off x="15215602" y="11544334"/>
            <a:ext cx="5739398" cy="1727200"/>
          </a:xfrm>
          <a:prstGeom prst="flowChartDocumen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40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import2.xsd</a:t>
            </a:r>
          </a:p>
          <a:p>
            <a:pPr algn="ctr"/>
            <a:r>
              <a:rPr lang="en-US" altLang="ko-KR" sz="4000"/>
              <a:t>http://component.org</a:t>
            </a: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86A77C07-AF97-1E2B-70A6-E36A6468714D}"/>
              </a:ext>
            </a:extLst>
          </p:cNvPr>
          <p:cNvCxnSpPr>
            <a:cxnSpLocks/>
          </p:cNvCxnSpPr>
          <p:nvPr/>
        </p:nvCxnSpPr>
        <p:spPr>
          <a:xfrm>
            <a:off x="18038676" y="10433831"/>
            <a:ext cx="0" cy="113971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9824C2DF-1F20-4B63-6BB6-2E3CCF20F84C}"/>
              </a:ext>
            </a:extLst>
          </p:cNvPr>
          <p:cNvSpPr txBox="1"/>
          <p:nvPr/>
        </p:nvSpPr>
        <p:spPr>
          <a:xfrm>
            <a:off x="18038676" y="10663687"/>
            <a:ext cx="2473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import</a:t>
            </a:r>
            <a:endParaRPr lang="ko-KR" altLang="en-US" sz="36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94B7AA80-9A94-67E7-3A6B-0F7C9015109E}"/>
              </a:ext>
            </a:extLst>
          </p:cNvPr>
          <p:cNvCxnSpPr>
            <a:cxnSpLocks/>
            <a:stCxn id="13" idx="3"/>
            <a:endCxn id="52" idx="1"/>
          </p:cNvCxnSpPr>
          <p:nvPr/>
        </p:nvCxnSpPr>
        <p:spPr>
          <a:xfrm>
            <a:off x="10364870" y="5746082"/>
            <a:ext cx="4800936" cy="391317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4A29D479-2910-524F-937E-5CC13149DFE8}"/>
              </a:ext>
            </a:extLst>
          </p:cNvPr>
          <p:cNvCxnSpPr>
            <a:cxnSpLocks/>
            <a:stCxn id="17" idx="3"/>
            <a:endCxn id="52" idx="1"/>
          </p:cNvCxnSpPr>
          <p:nvPr/>
        </p:nvCxnSpPr>
        <p:spPr>
          <a:xfrm flipV="1">
            <a:off x="9067800" y="9659258"/>
            <a:ext cx="6098006" cy="239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4533C37B-EB0B-37E9-0784-847A5931CE66}"/>
              </a:ext>
            </a:extLst>
          </p:cNvPr>
          <p:cNvCxnSpPr>
            <a:cxnSpLocks/>
            <a:stCxn id="21" idx="3"/>
            <a:endCxn id="55" idx="1"/>
          </p:cNvCxnSpPr>
          <p:nvPr/>
        </p:nvCxnSpPr>
        <p:spPr>
          <a:xfrm>
            <a:off x="9067801" y="10881930"/>
            <a:ext cx="6147801" cy="152600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621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D5B233-CADD-253D-6E38-BE7AC40B8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80CF00B-4276-E847-2C7F-FB9107E95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50FDD85F-5979-D84B-53EE-CBCC6460A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63B70B94-CD1D-E80B-56A8-CBAAE5C0941B}"/>
              </a:ext>
            </a:extLst>
          </p:cNvPr>
          <p:cNvSpPr txBox="1"/>
          <p:nvPr/>
        </p:nvSpPr>
        <p:spPr>
          <a:xfrm>
            <a:off x="533400" y="990600"/>
            <a:ext cx="4267200" cy="9779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8. XSD </a:t>
            </a:r>
            <a:r>
              <a:rPr lang="ko-KR" altLang="en-US" sz="4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구조도</a:t>
            </a:r>
            <a:endParaRPr lang="en" sz="48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6D471A8-B05F-0A78-7008-8FFCA9E703AB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7686FF05-036F-BD9C-7EF6-EA2AB567043D}"/>
              </a:ext>
            </a:extLst>
          </p:cNvPr>
          <p:cNvSpPr txBox="1"/>
          <p:nvPr/>
        </p:nvSpPr>
        <p:spPr>
          <a:xfrm>
            <a:off x="3846429" y="1156034"/>
            <a:ext cx="5041900" cy="552450"/>
          </a:xfrm>
          <a:prstGeom prst="rect">
            <a:avLst/>
          </a:prstGeom>
        </p:spPr>
        <p:txBody>
          <a:bodyPr lIns="0" tIns="170376" rIns="0" bIns="0" rtlCol="0" anchor="t"/>
          <a:lstStyle/>
          <a:p>
            <a:pPr lvl="0">
              <a:lnSpc>
                <a:spcPct val="99600"/>
              </a:lnSpc>
            </a:pPr>
            <a:endParaRPr lang="en" sz="3600" b="0" i="0" u="none" strike="noStrike" spc="-134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5FC203-BC11-5E67-BA34-ADCB5F0061F7}"/>
              </a:ext>
            </a:extLst>
          </p:cNvPr>
          <p:cNvSpPr txBox="1"/>
          <p:nvPr/>
        </p:nvSpPr>
        <p:spPr>
          <a:xfrm>
            <a:off x="4233779" y="1219534"/>
            <a:ext cx="4267200" cy="9779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" sz="2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XML </a:t>
            </a:r>
            <a:r>
              <a:rPr lang="ko-KR" altLang="en-US" sz="2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문서</a:t>
            </a:r>
            <a:endParaRPr lang="en" sz="28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960D153-A638-AE59-6F15-C1F8B8953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465" y="3207753"/>
            <a:ext cx="19116370" cy="43831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2EE98FA-666E-BB68-794D-CF8DD51C6B9D}"/>
              </a:ext>
            </a:extLst>
          </p:cNvPr>
          <p:cNvSpPr txBox="1"/>
          <p:nvPr/>
        </p:nvSpPr>
        <p:spPr>
          <a:xfrm>
            <a:off x="2687053" y="9307918"/>
            <a:ext cx="191163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namespae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정의</a:t>
            </a:r>
            <a:endParaRPr lang="en-US" altLang="ko-KR" sz="36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571500" indent="-571500">
              <a:buFontTx/>
              <a:buChar char="-"/>
            </a:pP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default Namespace: “http://ProjectScene.org”</a:t>
            </a:r>
          </a:p>
        </p:txBody>
      </p:sp>
    </p:spTree>
    <p:extLst>
      <p:ext uri="{BB962C8B-B14F-4D97-AF65-F5344CB8AC3E}">
        <p14:creationId xmlns:p14="http://schemas.microsoft.com/office/powerpoint/2010/main" val="2574603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A57F30-D0BC-65B1-69C7-81D43D813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523E072-78D7-3920-6520-D58D8A0BC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A0092C27-E888-D48D-DF6B-33472B90B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E709A4D7-F14C-D6B6-BE28-9AD238E2473E}"/>
              </a:ext>
            </a:extLst>
          </p:cNvPr>
          <p:cNvSpPr txBox="1"/>
          <p:nvPr/>
        </p:nvSpPr>
        <p:spPr>
          <a:xfrm>
            <a:off x="533400" y="990600"/>
            <a:ext cx="4267200" cy="9779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8. XSD </a:t>
            </a:r>
            <a:r>
              <a:rPr lang="ko-KR" altLang="en-US" sz="4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구조도</a:t>
            </a:r>
            <a:endParaRPr lang="en" sz="48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C3936D47-6EC8-C730-CE6A-B6E6B1400489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B4115082-A962-DDA5-883B-5DA493275342}"/>
              </a:ext>
            </a:extLst>
          </p:cNvPr>
          <p:cNvSpPr txBox="1"/>
          <p:nvPr/>
        </p:nvSpPr>
        <p:spPr>
          <a:xfrm>
            <a:off x="3846429" y="1156034"/>
            <a:ext cx="5041900" cy="552450"/>
          </a:xfrm>
          <a:prstGeom prst="rect">
            <a:avLst/>
          </a:prstGeom>
        </p:spPr>
        <p:txBody>
          <a:bodyPr lIns="0" tIns="170376" rIns="0" bIns="0" rtlCol="0" anchor="t"/>
          <a:lstStyle/>
          <a:p>
            <a:pPr lvl="0">
              <a:lnSpc>
                <a:spcPct val="99600"/>
              </a:lnSpc>
            </a:pPr>
            <a:endParaRPr lang="en" sz="3600" b="0" i="0" u="none" strike="noStrike" spc="-134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A0C660-C5C5-35B2-90D7-A9A06DC62A44}"/>
              </a:ext>
            </a:extLst>
          </p:cNvPr>
          <p:cNvSpPr txBox="1"/>
          <p:nvPr/>
        </p:nvSpPr>
        <p:spPr>
          <a:xfrm>
            <a:off x="4233779" y="1219534"/>
            <a:ext cx="4267200" cy="9779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2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import1.xsd</a:t>
            </a:r>
            <a:endParaRPr lang="en" sz="28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94FBE7-9904-756E-EAF1-13222FAFD4DD}"/>
              </a:ext>
            </a:extLst>
          </p:cNvPr>
          <p:cNvSpPr txBox="1"/>
          <p:nvPr/>
        </p:nvSpPr>
        <p:spPr>
          <a:xfrm>
            <a:off x="2209800" y="9067800"/>
            <a:ext cx="1911637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namespae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정의</a:t>
            </a:r>
            <a:endParaRPr lang="en-US" altLang="ko-KR" sz="36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571500" indent="-571500">
              <a:buFontTx/>
              <a:buChar char="-"/>
            </a:pP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target Namespace: “http://Project.org”</a:t>
            </a:r>
          </a:p>
          <a:p>
            <a:pPr marL="571500" indent="-571500">
              <a:buFontTx/>
              <a:buChar char="-"/>
            </a:pP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default Namespace: “http://Project.org”</a:t>
            </a:r>
          </a:p>
          <a:p>
            <a:pPr marL="571500" indent="-571500">
              <a:buFontTx/>
              <a:buChar char="-"/>
            </a:pP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element Form Default: qualified</a:t>
            </a:r>
          </a:p>
          <a:p>
            <a:pPr marL="571500" indent="-571500">
              <a:buFontTx/>
              <a:buChar char="-"/>
            </a:pP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import “http://ProjectScene.org”(prefix: pjs)</a:t>
            </a:r>
          </a:p>
          <a:p>
            <a:endParaRPr lang="en-US" altLang="ko-KR" sz="36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element/attribute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정의</a:t>
            </a:r>
            <a:endParaRPr lang="en-US" altLang="ko-KR" sz="36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- project(root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element)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에 대해서</a:t>
            </a: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자식 </a:t>
            </a: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element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인 </a:t>
            </a: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scene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을 외부에서 정의</a:t>
            </a:r>
            <a:endParaRPr lang="en-US" altLang="ko-KR" sz="36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571500" indent="-571500">
              <a:buFontTx/>
              <a:buChar char="-"/>
            </a:pPr>
            <a:endParaRPr lang="en-US" altLang="ko-KR" sz="36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5" name="그림 4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7FE9EB-DB04-F5B5-A27A-A251AECF1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8685" y="1968500"/>
            <a:ext cx="12629147" cy="713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5605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8613AA-504B-181C-3C90-FCE461188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44BF50C-8854-751A-1653-679D5659A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A1CA4F63-BDC7-BA55-83DC-488809D13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566DEA3A-5716-EE38-DD21-4A30FF04B197}"/>
              </a:ext>
            </a:extLst>
          </p:cNvPr>
          <p:cNvSpPr txBox="1"/>
          <p:nvPr/>
        </p:nvSpPr>
        <p:spPr>
          <a:xfrm>
            <a:off x="533400" y="990600"/>
            <a:ext cx="4267200" cy="9779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8. XSD </a:t>
            </a:r>
            <a:r>
              <a:rPr lang="ko-KR" altLang="en-US" sz="4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구조도</a:t>
            </a:r>
            <a:endParaRPr lang="en" sz="48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F233C650-8881-3EC1-6B62-82B8E74F3B44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8F808AFA-5384-20AB-3904-52862D3165DB}"/>
              </a:ext>
            </a:extLst>
          </p:cNvPr>
          <p:cNvSpPr txBox="1"/>
          <p:nvPr/>
        </p:nvSpPr>
        <p:spPr>
          <a:xfrm>
            <a:off x="3846429" y="1156034"/>
            <a:ext cx="5041900" cy="552450"/>
          </a:xfrm>
          <a:prstGeom prst="rect">
            <a:avLst/>
          </a:prstGeom>
        </p:spPr>
        <p:txBody>
          <a:bodyPr lIns="0" tIns="170376" rIns="0" bIns="0" rtlCol="0" anchor="t"/>
          <a:lstStyle/>
          <a:p>
            <a:pPr lvl="0">
              <a:lnSpc>
                <a:spcPct val="99600"/>
              </a:lnSpc>
            </a:pPr>
            <a:endParaRPr lang="en" sz="3600" b="0" i="0" u="none" strike="noStrike" spc="-134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4E0D10-AB3B-67B9-2491-B2422C3E0590}"/>
              </a:ext>
            </a:extLst>
          </p:cNvPr>
          <p:cNvSpPr txBox="1"/>
          <p:nvPr/>
        </p:nvSpPr>
        <p:spPr>
          <a:xfrm>
            <a:off x="4233779" y="1219534"/>
            <a:ext cx="4267200" cy="9779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2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include1.xsd</a:t>
            </a:r>
            <a:endParaRPr lang="en" sz="28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B40966-4820-74AA-5473-5B31ABE9AFA6}"/>
              </a:ext>
            </a:extLst>
          </p:cNvPr>
          <p:cNvSpPr txBox="1"/>
          <p:nvPr/>
        </p:nvSpPr>
        <p:spPr>
          <a:xfrm>
            <a:off x="2507582" y="8426784"/>
            <a:ext cx="1911637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namespae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정의</a:t>
            </a:r>
            <a:endParaRPr lang="en-US" altLang="ko-KR" sz="36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571500" indent="-571500">
              <a:buFontTx/>
              <a:buChar char="-"/>
            </a:pP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target Namespace: “http://ProjectScene.org”</a:t>
            </a:r>
          </a:p>
          <a:p>
            <a:pPr marL="571500" indent="-571500">
              <a:buFontTx/>
              <a:buChar char="-"/>
            </a:pP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default Namespace: “http://ProjectScene.org”</a:t>
            </a:r>
          </a:p>
          <a:p>
            <a:pPr marL="571500" indent="-571500">
              <a:buFontTx/>
              <a:buChar char="-"/>
            </a:pP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element Form Default: qualified</a:t>
            </a:r>
          </a:p>
          <a:p>
            <a:pPr marL="571500" indent="-571500">
              <a:buFontTx/>
              <a:buChar char="-"/>
            </a:pP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include “http://ProjectScene.org”</a:t>
            </a:r>
          </a:p>
          <a:p>
            <a:endParaRPr lang="en-US" altLang="ko-KR" sz="36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element/attribute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정의</a:t>
            </a:r>
            <a:endParaRPr lang="en-US" altLang="ko-KR" sz="36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571500" indent="-571500">
              <a:buFontTx/>
              <a:buChar char="-"/>
            </a:pP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object element 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에 대해서</a:t>
            </a: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자식 </a:t>
            </a: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element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인 </a:t>
            </a: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transform,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components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을 외부에서 정의</a:t>
            </a:r>
            <a:endParaRPr lang="en-US" altLang="ko-KR" sz="36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571500" indent="-571500">
              <a:buFontTx/>
              <a:buChar char="-"/>
            </a:pP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object attribute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인 </a:t>
            </a: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id, name, parent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에 대해서 정의</a:t>
            </a:r>
            <a:endParaRPr lang="en-US" altLang="ko-KR" sz="36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571500" indent="-571500">
              <a:buFontTx/>
              <a:buChar char="-"/>
            </a:pPr>
            <a:endParaRPr lang="en-US" altLang="ko-KR" sz="36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BDC4B4-CBEB-3B48-A805-DBC5C2234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463" y="1274872"/>
            <a:ext cx="11412373" cy="688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3873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2EB0F6-1704-9966-4ABB-7D5ABAA6F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624424B-A91A-988F-39B4-0777E582E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272F6F0-9F42-18F1-577B-3D985E846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1FDE9F23-7CAB-5D55-C063-B29B9EB6745D}"/>
              </a:ext>
            </a:extLst>
          </p:cNvPr>
          <p:cNvSpPr txBox="1"/>
          <p:nvPr/>
        </p:nvSpPr>
        <p:spPr>
          <a:xfrm>
            <a:off x="292100" y="25400"/>
            <a:ext cx="4267200" cy="9779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8. XSD </a:t>
            </a:r>
            <a:r>
              <a:rPr lang="ko-KR" altLang="en-US" sz="4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구조도</a:t>
            </a:r>
            <a:endParaRPr lang="en" sz="48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8D00F52B-0E6C-7748-409F-F2106089AFAE}"/>
              </a:ext>
            </a:extLst>
          </p:cNvPr>
          <p:cNvSpPr txBox="1"/>
          <p:nvPr/>
        </p:nvSpPr>
        <p:spPr>
          <a:xfrm>
            <a:off x="3846429" y="1156034"/>
            <a:ext cx="5041900" cy="552450"/>
          </a:xfrm>
          <a:prstGeom prst="rect">
            <a:avLst/>
          </a:prstGeom>
        </p:spPr>
        <p:txBody>
          <a:bodyPr lIns="0" tIns="170376" rIns="0" bIns="0" rtlCol="0" anchor="t"/>
          <a:lstStyle/>
          <a:p>
            <a:pPr lvl="0">
              <a:lnSpc>
                <a:spcPct val="99600"/>
              </a:lnSpc>
            </a:pPr>
            <a:endParaRPr lang="en" sz="3600" b="0" i="0" u="none" strike="noStrike" spc="-134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CB4FE5-15C3-8019-B5CC-F04815F9393A}"/>
              </a:ext>
            </a:extLst>
          </p:cNvPr>
          <p:cNvSpPr txBox="1"/>
          <p:nvPr/>
        </p:nvSpPr>
        <p:spPr>
          <a:xfrm>
            <a:off x="3992479" y="254334"/>
            <a:ext cx="4267200" cy="9779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2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include2.xsd</a:t>
            </a:r>
            <a:endParaRPr lang="en" sz="28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F781EA-255B-C29C-83A1-7DD2B3FEE806}"/>
              </a:ext>
            </a:extLst>
          </p:cNvPr>
          <p:cNvSpPr txBox="1"/>
          <p:nvPr/>
        </p:nvSpPr>
        <p:spPr>
          <a:xfrm>
            <a:off x="9906000" y="3835400"/>
            <a:ext cx="1473030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namespae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정의</a:t>
            </a:r>
            <a:endParaRPr lang="en-US" altLang="ko-KR" sz="36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571500" indent="-571500">
              <a:buFontTx/>
              <a:buChar char="-"/>
            </a:pP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target Namespace: “http://ProjectScene.org”</a:t>
            </a:r>
          </a:p>
          <a:p>
            <a:pPr marL="571500" indent="-571500">
              <a:buFontTx/>
              <a:buChar char="-"/>
            </a:pP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default Namespace: “http://ProjectScene.org”</a:t>
            </a:r>
          </a:p>
          <a:p>
            <a:pPr marL="571500" indent="-571500">
              <a:buFontTx/>
              <a:buChar char="-"/>
            </a:pP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element Form Default: qualified</a:t>
            </a:r>
          </a:p>
          <a:p>
            <a:pPr marL="571500" indent="-571500">
              <a:buFontTx/>
              <a:buChar char="-"/>
            </a:pP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import “http://component.org”(prefix: comp)</a:t>
            </a:r>
          </a:p>
          <a:p>
            <a:endParaRPr lang="en-US" altLang="ko-KR" sz="36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element/attribute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정의</a:t>
            </a:r>
            <a:endParaRPr lang="en-US" altLang="ko-KR" sz="36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571500" indent="-571500">
              <a:buFontTx/>
              <a:buChar char="-"/>
            </a:pP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transform element 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에 대해서</a:t>
            </a: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자식 </a:t>
            </a: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element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들을 외부</a:t>
            </a: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같은 파일</a:t>
            </a: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)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에서 정의</a:t>
            </a:r>
            <a:endParaRPr lang="en-US" altLang="ko-KR" sz="36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1028700" lvl="1" indent="-571500">
              <a:buFontTx/>
              <a:buChar char="-"/>
            </a:pP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각 </a:t>
            </a: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position, rotation, scale elemen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는 속성</a:t>
            </a: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(x, y, z)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에 대해 정의</a:t>
            </a:r>
            <a:endParaRPr lang="en-US" altLang="ko-KR" sz="36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571500" indent="-571500">
              <a:buFontTx/>
              <a:buChar char="-"/>
            </a:pP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components element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에 대해서 자식 </a:t>
            </a: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element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인 </a:t>
            </a:r>
            <a:r>
              <a:rPr lang="en-US" altLang="ko-KR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component</a:t>
            </a:r>
            <a:r>
              <a:rPr lang="ko-KR" altLang="en-US" sz="3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를 외부에서 정의</a:t>
            </a:r>
            <a:endParaRPr lang="en-US" altLang="ko-KR" sz="36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5" name="그림 4" descr="텍스트, 스크린샷, 메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63E45C-4D82-DA42-25A4-59CD3DF31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490" y="1156034"/>
            <a:ext cx="8865626" cy="1249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624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B87EBE-7705-AAA5-E96A-E7C2DA0FD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30FF235-2AB3-A0FB-98E7-A163029DF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F59A13A-7F2F-11BF-9E2D-498F18D16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1281CD8B-5C92-5E55-1B29-A1C38BAC0F1B}"/>
              </a:ext>
            </a:extLst>
          </p:cNvPr>
          <p:cNvSpPr txBox="1"/>
          <p:nvPr/>
        </p:nvSpPr>
        <p:spPr>
          <a:xfrm>
            <a:off x="292100" y="25400"/>
            <a:ext cx="4267200" cy="9779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8. XSD </a:t>
            </a:r>
            <a:r>
              <a:rPr lang="ko-KR" altLang="en-US" sz="4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구조도</a:t>
            </a:r>
            <a:endParaRPr lang="en" sz="48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9CC97D5B-3515-37A6-7AB9-48109493387A}"/>
              </a:ext>
            </a:extLst>
          </p:cNvPr>
          <p:cNvSpPr txBox="1"/>
          <p:nvPr/>
        </p:nvSpPr>
        <p:spPr>
          <a:xfrm>
            <a:off x="3846429" y="1156034"/>
            <a:ext cx="5041900" cy="552450"/>
          </a:xfrm>
          <a:prstGeom prst="rect">
            <a:avLst/>
          </a:prstGeom>
        </p:spPr>
        <p:txBody>
          <a:bodyPr lIns="0" tIns="170376" rIns="0" bIns="0" rtlCol="0" anchor="t"/>
          <a:lstStyle/>
          <a:p>
            <a:pPr lvl="0">
              <a:lnSpc>
                <a:spcPct val="99600"/>
              </a:lnSpc>
            </a:pPr>
            <a:endParaRPr lang="en" sz="3600" b="0" i="0" u="none" strike="noStrike" spc="-134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6D9DD0-C729-7BED-BFE9-406CE570D166}"/>
              </a:ext>
            </a:extLst>
          </p:cNvPr>
          <p:cNvSpPr txBox="1"/>
          <p:nvPr/>
        </p:nvSpPr>
        <p:spPr>
          <a:xfrm>
            <a:off x="3992479" y="254334"/>
            <a:ext cx="4267200" cy="9779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2800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import</a:t>
            </a:r>
            <a:r>
              <a:rPr lang="en-US" sz="2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2.xsd</a:t>
            </a:r>
            <a:endParaRPr lang="en" sz="28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2BCE73-8065-C314-DB33-CBCAE2429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100" y="1240255"/>
            <a:ext cx="9598850" cy="26178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D5F5CA-EAC4-F535-2246-1810BFEDDA98}"/>
              </a:ext>
            </a:extLst>
          </p:cNvPr>
          <p:cNvSpPr txBox="1"/>
          <p:nvPr/>
        </p:nvSpPr>
        <p:spPr>
          <a:xfrm>
            <a:off x="10323429" y="990600"/>
            <a:ext cx="1473030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namespae</a:t>
            </a:r>
            <a:r>
              <a:rPr lang="ko-KR" altLang="en-US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정의</a:t>
            </a:r>
            <a:endParaRPr lang="en-US" altLang="ko-KR" sz="32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571500" indent="-571500">
              <a:buFontTx/>
              <a:buChar char="-"/>
            </a:pPr>
            <a:r>
              <a:rPr lang="en-US" altLang="ko-KR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target Namespace: “http://component.org”</a:t>
            </a:r>
          </a:p>
          <a:p>
            <a:pPr marL="571500" indent="-571500">
              <a:buFontTx/>
              <a:buChar char="-"/>
            </a:pPr>
            <a:r>
              <a:rPr lang="en-US" altLang="ko-KR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default Namespace: “http://component.org”</a:t>
            </a:r>
          </a:p>
          <a:p>
            <a:pPr marL="571500" indent="-571500">
              <a:buFontTx/>
              <a:buChar char="-"/>
            </a:pPr>
            <a:r>
              <a:rPr lang="en-US" altLang="ko-KR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element Form Default: qualified</a:t>
            </a:r>
          </a:p>
          <a:p>
            <a:r>
              <a:rPr lang="en-US" altLang="ko-KR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element </a:t>
            </a:r>
            <a:r>
              <a:rPr lang="ko-KR" altLang="en-US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정의</a:t>
            </a:r>
            <a:endParaRPr lang="en-US" altLang="ko-KR" sz="32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457200" indent="-457200">
              <a:buFontTx/>
              <a:buChar char="-"/>
            </a:pPr>
            <a:r>
              <a:rPr lang="en-US" altLang="ko-KR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component element</a:t>
            </a:r>
            <a:r>
              <a:rPr lang="ko-KR" altLang="en-US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정의</a:t>
            </a:r>
            <a:r>
              <a:rPr lang="en-US" altLang="ko-KR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(type: componentType)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67EF452-8173-B104-850F-12D5C3E869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740" y="4927600"/>
            <a:ext cx="7344226" cy="39116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6D506B0-CCBB-380D-7634-BDEAC55E7F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8600" y="4960009"/>
            <a:ext cx="7108497" cy="300888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D7CAFBA-7C23-8C95-43E6-3007C875FC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20731" y="4960009"/>
            <a:ext cx="7344226" cy="405484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7CF8B11-926A-6850-1141-6CB6DD40CD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20730" y="9099070"/>
            <a:ext cx="7381271" cy="233092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AA8F655-7287-E745-684A-B8FA1B2A2D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740" y="8962840"/>
            <a:ext cx="7376529" cy="284816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BA92BFF2-6074-A5A7-4402-E2D63466BC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42524" y="8051317"/>
            <a:ext cx="7073956" cy="183960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800FE9C-967D-628A-42D5-25B34BCD532F}"/>
              </a:ext>
            </a:extLst>
          </p:cNvPr>
          <p:cNvSpPr txBox="1"/>
          <p:nvPr/>
        </p:nvSpPr>
        <p:spPr>
          <a:xfrm>
            <a:off x="4037696" y="11514219"/>
            <a:ext cx="147303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각종 </a:t>
            </a:r>
            <a:r>
              <a:rPr lang="en-US" altLang="ko-KR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Type </a:t>
            </a:r>
            <a:r>
              <a:rPr lang="ko-KR" altLang="en-US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정의</a:t>
            </a:r>
            <a:endParaRPr lang="en-US" altLang="ko-KR" sz="32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ko-KR" altLang="en-US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해당 </a:t>
            </a:r>
            <a:r>
              <a:rPr lang="en-US" altLang="ko-KR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Type</a:t>
            </a:r>
            <a:r>
              <a:rPr lang="ko-KR" altLang="en-US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는 </a:t>
            </a:r>
            <a:r>
              <a:rPr lang="en-US" altLang="ko-KR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componentType </a:t>
            </a:r>
            <a:r>
              <a:rPr lang="ko-KR" altLang="en-US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정의에 사용</a:t>
            </a:r>
            <a:endParaRPr lang="en-US" altLang="ko-KR" sz="32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8433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6D33F2-FBA6-3ED7-6DD9-C1BD5E52D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2E51BEE-B07C-BDC8-E9D9-E114A034D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A848A72-C961-C8D3-30EB-6D6A87CBD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5A981C4C-4A2C-4A56-0FB4-083F021ACC6E}"/>
              </a:ext>
            </a:extLst>
          </p:cNvPr>
          <p:cNvSpPr txBox="1"/>
          <p:nvPr/>
        </p:nvSpPr>
        <p:spPr>
          <a:xfrm>
            <a:off x="292100" y="25400"/>
            <a:ext cx="4267200" cy="9779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2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8. XSD </a:t>
            </a:r>
            <a:r>
              <a:rPr lang="ko-KR" altLang="en-US" sz="2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구조도</a:t>
            </a:r>
            <a:endParaRPr lang="en" sz="20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D84980-AC8F-BEDC-CCF0-D3DF7C66F0D1}"/>
              </a:ext>
            </a:extLst>
          </p:cNvPr>
          <p:cNvSpPr txBox="1"/>
          <p:nvPr/>
        </p:nvSpPr>
        <p:spPr>
          <a:xfrm>
            <a:off x="361950" y="347491"/>
            <a:ext cx="4267200" cy="9779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2000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import</a:t>
            </a:r>
            <a:r>
              <a:rPr lang="en-US" sz="2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2.xsd</a:t>
            </a:r>
            <a:endParaRPr lang="en" sz="20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067AAB-A995-38E2-1E28-F04A0716BB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1150" y="130938"/>
            <a:ext cx="10490850" cy="1096037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6DD1A2A-5FB2-4611-C1AA-CB11813E8D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39596" y="145992"/>
            <a:ext cx="9385509" cy="109453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426246-52CF-F8BE-FEA9-F42DB5D226F3}"/>
              </a:ext>
            </a:extLst>
          </p:cNvPr>
          <p:cNvSpPr txBox="1"/>
          <p:nvPr/>
        </p:nvSpPr>
        <p:spPr>
          <a:xfrm>
            <a:off x="1600200" y="11430000"/>
            <a:ext cx="204690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componentType </a:t>
            </a:r>
            <a:r>
              <a:rPr lang="ko-KR" altLang="en-US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정의</a:t>
            </a:r>
            <a:endParaRPr lang="en-US" altLang="ko-KR" sz="32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algn="ctr"/>
            <a:r>
              <a:rPr lang="en-US" altLang="ko-KR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complexType</a:t>
            </a:r>
            <a:r>
              <a:rPr lang="ko-KR" altLang="en-US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로 정의하며</a:t>
            </a:r>
            <a:r>
              <a:rPr lang="en-US" altLang="ko-KR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choice</a:t>
            </a:r>
            <a:r>
              <a:rPr lang="ko-KR" altLang="en-US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로 나올 수 있는 자식 </a:t>
            </a:r>
            <a:r>
              <a:rPr lang="en-US" altLang="ko-KR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element sequence</a:t>
            </a:r>
            <a:r>
              <a:rPr lang="ko-KR" altLang="en-US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를 정의한다</a:t>
            </a:r>
            <a:r>
              <a:rPr lang="en-US" altLang="ko-KR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.</a:t>
            </a:r>
          </a:p>
          <a:p>
            <a:pPr algn="ctr"/>
            <a:r>
              <a:rPr lang="ko-KR" altLang="en-US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또한 </a:t>
            </a:r>
            <a:r>
              <a:rPr lang="en-US" altLang="ko-KR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component element</a:t>
            </a:r>
            <a:r>
              <a:rPr lang="ko-KR" altLang="en-US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의 </a:t>
            </a:r>
            <a:r>
              <a:rPr lang="en-US" altLang="ko-KR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attribute</a:t>
            </a:r>
            <a:r>
              <a:rPr lang="ko-KR" altLang="en-US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인 </a:t>
            </a:r>
            <a:r>
              <a:rPr lang="en-US" altLang="ko-KR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Type </a:t>
            </a:r>
            <a:r>
              <a:rPr lang="ko-KR" altLang="en-US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값을 </a:t>
            </a:r>
            <a:r>
              <a:rPr lang="en-US" altLang="ko-KR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simpleType-restriction</a:t>
            </a:r>
            <a:r>
              <a:rPr lang="ko-KR" altLang="en-US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으로 정의하여 </a:t>
            </a:r>
            <a:r>
              <a:rPr lang="en-US" altLang="ko-KR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Enum  </a:t>
            </a:r>
            <a:r>
              <a:rPr lang="ko-KR" altLang="en-US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형식으로 정의</a:t>
            </a:r>
            <a:endParaRPr lang="en-US" altLang="ko-KR" sz="32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61186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55DA37-6A5E-01E6-5E5E-586AB882B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072AB84-0EA4-5CB4-7775-15EB2F7D9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F29F214-A559-295F-B233-7160D1330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894C2F59-3292-96B8-3FC0-1CFF5F88C394}"/>
              </a:ext>
            </a:extLst>
          </p:cNvPr>
          <p:cNvSpPr txBox="1"/>
          <p:nvPr/>
        </p:nvSpPr>
        <p:spPr>
          <a:xfrm>
            <a:off x="533400" y="990600"/>
            <a:ext cx="6253078" cy="9779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9. XSD </a:t>
            </a:r>
            <a:r>
              <a:rPr lang="ko-KR" altLang="en-US" sz="4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실행 내역</a:t>
            </a:r>
            <a:endParaRPr lang="en" sz="48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15BB866-98B3-0AF8-F81E-C5DDB50F126B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CB1885F8-3D98-389B-85F9-223A07B5876F}"/>
              </a:ext>
            </a:extLst>
          </p:cNvPr>
          <p:cNvSpPr txBox="1"/>
          <p:nvPr/>
        </p:nvSpPr>
        <p:spPr>
          <a:xfrm>
            <a:off x="3846429" y="1156034"/>
            <a:ext cx="5041900" cy="552450"/>
          </a:xfrm>
          <a:prstGeom prst="rect">
            <a:avLst/>
          </a:prstGeom>
        </p:spPr>
        <p:txBody>
          <a:bodyPr lIns="0" tIns="170376" rIns="0" bIns="0" rtlCol="0" anchor="t"/>
          <a:lstStyle/>
          <a:p>
            <a:pPr lvl="0">
              <a:lnSpc>
                <a:spcPct val="99600"/>
              </a:lnSpc>
            </a:pPr>
            <a:endParaRPr lang="en" sz="3600" b="0" i="0" u="none" strike="noStrike" spc="-134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D36DA17-3FB3-F6E3-1A2A-1353A70B35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2093160"/>
            <a:ext cx="9132163" cy="111503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AEC73D-417C-BC3C-F8AE-17DC83A78F18}"/>
              </a:ext>
            </a:extLst>
          </p:cNvPr>
          <p:cNvSpPr txBox="1"/>
          <p:nvPr/>
        </p:nvSpPr>
        <p:spPr>
          <a:xfrm>
            <a:off x="5945438" y="1576063"/>
            <a:ext cx="42625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DOM3 </a:t>
            </a:r>
            <a:r>
              <a:rPr lang="ko-KR" altLang="en-US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파서 실행 결과</a:t>
            </a:r>
            <a:endParaRPr lang="en-US" altLang="ko-KR" sz="32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12" name="그림 1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59F135-4C99-4BFF-DD60-6B58D289CA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200" y="2093159"/>
            <a:ext cx="13792200" cy="86885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842223F-010A-AD62-E509-9E515209CF39}"/>
              </a:ext>
            </a:extLst>
          </p:cNvPr>
          <p:cNvSpPr txBox="1"/>
          <p:nvPr/>
        </p:nvSpPr>
        <p:spPr>
          <a:xfrm>
            <a:off x="10367127" y="1576062"/>
            <a:ext cx="3879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chrome </a:t>
            </a:r>
            <a:r>
              <a:rPr lang="ko-KR" altLang="en-US" sz="3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실행 결과</a:t>
            </a:r>
            <a:endParaRPr lang="en-US" altLang="ko-KR" sz="32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96352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0F674F-E76F-3A63-589F-F3CB5B3ED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9923EF6-2974-634B-8E2C-82FE60131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5500" y="-165100"/>
            <a:ext cx="13804900" cy="141605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FAF13EF-97B5-62E1-6D5E-50B7A2016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400" y="8585200"/>
            <a:ext cx="15265400" cy="55372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6C5CFA17-233B-27B7-9DE8-9799D8B82850}"/>
              </a:ext>
            </a:extLst>
          </p:cNvPr>
          <p:cNvSpPr txBox="1"/>
          <p:nvPr/>
        </p:nvSpPr>
        <p:spPr>
          <a:xfrm>
            <a:off x="2800350" y="4140200"/>
            <a:ext cx="18783300" cy="5435600"/>
          </a:xfrm>
          <a:prstGeom prst="rect">
            <a:avLst/>
          </a:prstGeom>
        </p:spPr>
        <p:txBody>
          <a:bodyPr lIns="0" tIns="480060" rIns="0" bIns="0" rtlCol="0" anchor="ctr"/>
          <a:lstStyle/>
          <a:p>
            <a:pPr lvl="0" algn="ctr">
              <a:lnSpc>
                <a:spcPct val="81339"/>
              </a:lnSpc>
            </a:pPr>
            <a:r>
              <a:rPr lang="ko-KR" altLang="en-US" sz="15000" b="0" i="0" u="none" strike="noStrike" spc="-36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감사합니다</a:t>
            </a:r>
            <a:endParaRPr lang="en-US" altLang="ko-KR" sz="15000" b="0" i="0" u="none" strike="noStrike" spc="-36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72B8D77-6331-DCF1-A160-1D78FFEFA8BA}"/>
              </a:ext>
            </a:extLst>
          </p:cNvPr>
          <p:cNvSpPr txBox="1"/>
          <p:nvPr/>
        </p:nvSpPr>
        <p:spPr>
          <a:xfrm>
            <a:off x="20650200" y="13093700"/>
            <a:ext cx="4749800" cy="5588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3132" b="0" i="0" u="none" strike="noStrike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21011627 </a:t>
            </a:r>
            <a:r>
              <a:rPr lang="ko-KR" altLang="en-US" sz="3132" b="0" i="0" u="none" strike="noStrike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배준엽</a:t>
            </a:r>
            <a:endParaRPr lang="en" sz="3132" b="0" i="0" u="none" strike="noStrike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7984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1183</Words>
  <Application>Microsoft Office PowerPoint</Application>
  <PresentationFormat>사용자 지정</PresentationFormat>
  <Paragraphs>333</Paragraphs>
  <Slides>25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6" baseType="lpstr">
      <vt:lpstr>Anek Bangla Expanded Medium</vt:lpstr>
      <vt:lpstr>에스코어 드림 3 Light</vt:lpstr>
      <vt:lpstr>에스코어 드림 3 Light</vt:lpstr>
      <vt:lpstr>Calibri</vt:lpstr>
      <vt:lpstr>에스코어 드림 4 Regular</vt:lpstr>
      <vt:lpstr>Arial</vt:lpstr>
      <vt:lpstr>에스코어 드림 4 Regular</vt:lpstr>
      <vt:lpstr>Anek Bangla Expanded ExtraLight</vt:lpstr>
      <vt:lpstr>에스코어 드림 5 Medium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배준엽</cp:lastModifiedBy>
  <cp:revision>17</cp:revision>
  <dcterms:created xsi:type="dcterms:W3CDTF">2006-08-16T00:00:00Z</dcterms:created>
  <dcterms:modified xsi:type="dcterms:W3CDTF">2025-11-10T11:05:57Z</dcterms:modified>
</cp:coreProperties>
</file>