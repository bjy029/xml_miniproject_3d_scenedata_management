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9" r:id="rId4"/>
    <p:sldId id="261" r:id="rId5"/>
    <p:sldId id="271" r:id="rId6"/>
    <p:sldId id="273" r:id="rId7"/>
    <p:sldId id="274" r:id="rId8"/>
    <p:sldId id="279" r:id="rId9"/>
    <p:sldId id="280" r:id="rId10"/>
    <p:sldId id="276" r:id="rId11"/>
    <p:sldId id="277" r:id="rId12"/>
  </p:sldIdLst>
  <p:sldSz cx="24384000" cy="13716000"/>
  <p:notesSz cx="6858000" cy="9144000"/>
  <p:embeddedFontLst>
    <p:embeddedFont>
      <p:font typeface="Anek Bangla Expanded ExtraLight" panose="020B0600000101010101" charset="0"/>
      <p:regular r:id="rId13"/>
    </p:embeddedFont>
    <p:embeddedFont>
      <p:font typeface="Anek Bangla Expanded Medium" panose="020B0600000101010101" charset="0"/>
      <p:bold r:id="rId14"/>
    </p:embeddedFont>
    <p:embeddedFont>
      <p:font typeface="Anek Bangla Expanded SemiBold" panose="020B0600000101010101" charset="0"/>
      <p:bold r:id="rId15"/>
    </p:embeddedFont>
    <p:embeddedFont>
      <p:font typeface="에스코어 드림 3 Light" panose="020B0303030302020204" pitchFamily="34" charset="-127"/>
      <p:regular r:id="rId16"/>
    </p:embeddedFont>
    <p:embeddedFont>
      <p:font typeface="에스코어 드림 3 Light" panose="020B0303030302020204" pitchFamily="34" charset="-127"/>
      <p:regular r:id="rId16"/>
    </p:embeddedFont>
    <p:embeddedFont>
      <p:font typeface="에스코어 드림 4 Regular" panose="020B0503030302020204" pitchFamily="34" charset="-127"/>
      <p:regular r:id="rId17"/>
    </p:embeddedFont>
    <p:embeddedFont>
      <p:font typeface="에스코어 드림 4 Regular" panose="020B0503030302020204" pitchFamily="34" charset="-127"/>
      <p:regular r:id="rId17"/>
    </p:embeddedFont>
    <p:embeddedFont>
      <p:font typeface="에스코어 드림 5 Medium" panose="020B0503030302020204" pitchFamily="34" charset="-127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4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3914" autoAdjust="0"/>
  </p:normalViewPr>
  <p:slideViewPr>
    <p:cSldViewPr>
      <p:cViewPr varScale="1">
        <p:scale>
          <a:sx n="55" d="100"/>
          <a:sy n="55" d="100"/>
        </p:scale>
        <p:origin x="138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500" y="-165100"/>
            <a:ext cx="13804900" cy="14160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400" y="8585200"/>
            <a:ext cx="15265400" cy="5537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168400" y="7658100"/>
            <a:ext cx="18783300" cy="5435600"/>
          </a:xfrm>
          <a:prstGeom prst="rect">
            <a:avLst/>
          </a:prstGeom>
        </p:spPr>
        <p:txBody>
          <a:bodyPr lIns="0" tIns="480060" rIns="0" bIns="0" rtlCol="0" anchor="t"/>
          <a:lstStyle/>
          <a:p>
            <a:pPr lvl="0" algn="l">
              <a:lnSpc>
                <a:spcPct val="81339"/>
              </a:lnSpc>
            </a:pPr>
            <a:r>
              <a:rPr lang="en-US" altLang="ko-KR" sz="13000" b="0" i="0" u="none" strike="noStrike" spc="-36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3D Scene </a:t>
            </a:r>
            <a:r>
              <a:rPr lang="ko-KR" altLang="en-US" sz="13000" b="0" i="0" u="none" strike="noStrike" spc="-36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 관리를 위한 </a:t>
            </a:r>
            <a:r>
              <a:rPr lang="en-US" altLang="ko-KR" sz="13000" b="0" i="0" u="none" strike="noStrike" spc="-36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XML </a:t>
            </a:r>
            <a:r>
              <a:rPr lang="ko-KR" altLang="en-US" sz="13000" b="0" i="0" u="none" strike="noStrike" spc="-36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구조 설계</a:t>
            </a:r>
            <a:endParaRPr lang="en-US" altLang="ko-KR" sz="13000" b="0" i="0" u="none" strike="noStrike" spc="-36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46200" y="7200900"/>
            <a:ext cx="4749800" cy="5588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3132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21011627 </a:t>
            </a:r>
            <a:r>
              <a:rPr lang="ko-KR" altLang="en-US" sz="3132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배준엽</a:t>
            </a:r>
            <a:endParaRPr lang="en" sz="3132" b="0" i="0" u="none" strike="noStrike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5800" y="1466851"/>
            <a:ext cx="16192500" cy="12534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8600" y="-127000"/>
            <a:ext cx="6997700" cy="3962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2960350" y="4445000"/>
            <a:ext cx="889000" cy="889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12960350" y="5588000"/>
            <a:ext cx="889000" cy="88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12960350" y="6718300"/>
            <a:ext cx="889000" cy="889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2960350" y="7848600"/>
            <a:ext cx="889000" cy="889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2960350" y="8991600"/>
            <a:ext cx="889000" cy="889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2896850" y="5448300"/>
            <a:ext cx="96393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2896850" y="6591300"/>
            <a:ext cx="96393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2896850" y="7721600"/>
            <a:ext cx="9639300" cy="12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2896850" y="8851900"/>
            <a:ext cx="9639300" cy="127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4204950" y="4622800"/>
            <a:ext cx="39243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주제 선정 배경</a:t>
            </a:r>
            <a:endParaRPr lang="ko-KR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973050" y="4597400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 b="0" i="0" u="none" strike="noStrike">
                <a:solidFill>
                  <a:srgbClr val="000000"/>
                </a:solidFill>
                <a:latin typeface="Anek Bangla Expanded ExtraLight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204950" y="5753100"/>
            <a:ext cx="36449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XML </a:t>
            </a:r>
            <a:r>
              <a:rPr lang="ko-KR" altLang="en-US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 구조도</a:t>
            </a:r>
            <a:endParaRPr lang="ko-KR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973050" y="5740400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 b="0" i="0" u="none" strike="noStrike">
                <a:solidFill>
                  <a:srgbClr val="000000"/>
                </a:solidFill>
                <a:latin typeface="Anek Bangla Expanded ExtraLight"/>
              </a:rPr>
              <a:t>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204950" y="6883400"/>
            <a:ext cx="36449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en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ELEMENT </a:t>
            </a:r>
            <a:r>
              <a:rPr lang="ko-KR" altLang="en-US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2973050" y="6870700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 b="0" i="0" u="none" strike="noStrike">
                <a:solidFill>
                  <a:srgbClr val="000000"/>
                </a:solidFill>
                <a:latin typeface="Anek Bangla Expanded ExtraLight"/>
              </a:rPr>
              <a:t>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204950" y="8026400"/>
            <a:ext cx="32766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311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ATTRIBUTE </a:t>
            </a:r>
            <a:r>
              <a:rPr lang="ko-KR" altLang="en-US" sz="3311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ko-KR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2973050" y="8001000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 b="0" i="0" u="none" strike="noStrike">
                <a:solidFill>
                  <a:srgbClr val="000000"/>
                </a:solidFill>
                <a:latin typeface="Anek Bangla Expanded ExtraLight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204950" y="9156700"/>
            <a:ext cx="3644900" cy="584200"/>
          </a:xfrm>
          <a:prstGeom prst="rect">
            <a:avLst/>
          </a:prstGeom>
        </p:spPr>
        <p:txBody>
          <a:bodyPr lIns="0" tIns="42052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XML </a:t>
            </a:r>
            <a:r>
              <a:rPr lang="ko-KR" altLang="en-US" sz="3311" b="0" i="0" u="none" strike="noStrike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 예시</a:t>
            </a:r>
            <a:endParaRPr lang="ko-KR" sz="3311" b="0" i="0" u="none" strike="noStrike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2973050" y="9144000"/>
            <a:ext cx="850900" cy="571500"/>
          </a:xfrm>
          <a:prstGeom prst="rect">
            <a:avLst/>
          </a:prstGeom>
        </p:spPr>
        <p:txBody>
          <a:bodyPr lIns="0" tIns="4048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3187" b="0" i="0" u="none" strike="noStrike">
                <a:solidFill>
                  <a:srgbClr val="000000"/>
                </a:solidFill>
                <a:latin typeface="Anek Bangla Expanded ExtraLight"/>
              </a:rPr>
              <a:t>5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46200" y="1244600"/>
            <a:ext cx="8737600" cy="3568700"/>
          </a:xfrm>
          <a:prstGeom prst="rect">
            <a:avLst/>
          </a:prstGeom>
        </p:spPr>
        <p:txBody>
          <a:bodyPr lIns="0" tIns="254847" rIns="0" bIns="0" rtlCol="0" anchor="t"/>
          <a:lstStyle/>
          <a:p>
            <a:pPr lvl="0" algn="l">
              <a:lnSpc>
                <a:spcPct val="87149"/>
              </a:lnSpc>
            </a:pPr>
            <a:r>
              <a:rPr lang="en" sz="11466" b="0" i="0" u="none" strike="noStrike" spc="-229">
                <a:solidFill>
                  <a:srgbClr val="000000"/>
                </a:solidFill>
                <a:latin typeface="Anek Bangla Expanded Medium"/>
              </a:rPr>
              <a:t>Table of 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399D6-65B4-537D-96E8-849E8645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>
            <a:extLst>
              <a:ext uri="{FF2B5EF4-FFF2-40B4-BE49-F238E27FC236}">
                <a16:creationId xmlns:a16="http://schemas.microsoft.com/office/drawing/2014/main" id="{379F2A9A-3793-BD61-BCBD-525A81F30C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386592" y="3530600"/>
            <a:ext cx="10655300" cy="92964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D5D6C238-DA36-36C1-01DD-048487C45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100" y="-139700"/>
            <a:ext cx="12598400" cy="32385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C316951-E544-F560-90D7-9F62071E4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7800" y="-317500"/>
            <a:ext cx="10579100" cy="89154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67F23491-F87E-84FF-8C7D-09BA359FCF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3D35C169-F593-F6EC-A4E3-286A089FBEC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1886857" y="6729186"/>
            <a:ext cx="9690100" cy="127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8E721AA2-07BF-FF88-5462-9556A9D909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12395200" y="3530600"/>
            <a:ext cx="10655300" cy="92964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BC51DB9F-FC62-9536-4990-E5D47955F1C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12738100" y="6741886"/>
            <a:ext cx="9690100" cy="127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08C40EFA-9001-0E4C-B8B8-03693231FDA5}"/>
              </a:ext>
            </a:extLst>
          </p:cNvPr>
          <p:cNvSpPr txBox="1"/>
          <p:nvPr/>
        </p:nvSpPr>
        <p:spPr>
          <a:xfrm>
            <a:off x="1346200" y="1244600"/>
            <a:ext cx="14160500" cy="2044700"/>
          </a:xfrm>
          <a:prstGeom prst="rect">
            <a:avLst/>
          </a:prstGeom>
        </p:spPr>
        <p:txBody>
          <a:bodyPr lIns="0" tIns="254847" rIns="0" bIns="0" rtlCol="0" anchor="t"/>
          <a:lstStyle/>
          <a:p>
            <a:pPr lvl="0" algn="l">
              <a:lnSpc>
                <a:spcPct val="87149"/>
              </a:lnSpc>
            </a:pPr>
            <a:r>
              <a:rPr lang="en" sz="8800" b="0" i="0" u="none" strike="noStrike" spc="-229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1. </a:t>
            </a:r>
            <a:r>
              <a:rPr lang="ko-KR" altLang="en-US" sz="8800" b="0" i="0" u="none" strike="noStrike" spc="-229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주제 선정 배경</a:t>
            </a:r>
            <a:endParaRPr lang="en" sz="8800" b="0" i="0" u="none" strike="noStrike" spc="-229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6A3ABC9-46DF-330A-E277-F443343136C8}"/>
              </a:ext>
            </a:extLst>
          </p:cNvPr>
          <p:cNvSpPr txBox="1"/>
          <p:nvPr/>
        </p:nvSpPr>
        <p:spPr>
          <a:xfrm>
            <a:off x="1854200" y="7019472"/>
            <a:ext cx="9690100" cy="5451928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200000"/>
              </a:lnSpc>
            </a:pPr>
            <a:r>
              <a:rPr lang="ko-KR" altLang="en-US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 하나의 씬에는 수많은 오브젝트가 존재하고</a:t>
            </a:r>
            <a:r>
              <a:rPr lang="en-US" altLang="ko-KR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각 오브젝트에도 여러 데이터 구조가 존재합니다</a:t>
            </a:r>
            <a:r>
              <a:rPr lang="en-US" altLang="ko-KR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  </a:t>
            </a:r>
          </a:p>
          <a:p>
            <a:pPr lvl="0">
              <a:lnSpc>
                <a:spcPct val="200000"/>
              </a:lnSpc>
            </a:pPr>
            <a:r>
              <a:rPr lang="ko-KR" altLang="en-US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예를 들어 플레이어 오브젝트에는 기본 위치 데이터부터 플레이어를 움직이는 스크립트 컴포넌트</a:t>
            </a:r>
            <a:r>
              <a:rPr lang="en-US" altLang="ko-KR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플레이어의 충돌을 담당하는 콜라이더 컴포넌트 등이 있습니다</a:t>
            </a:r>
            <a:r>
              <a:rPr lang="en-US" altLang="ko-KR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</a:t>
            </a:r>
          </a:p>
          <a:p>
            <a:pPr lvl="0">
              <a:lnSpc>
                <a:spcPct val="200000"/>
              </a:lnSpc>
            </a:pPr>
            <a:r>
              <a:rPr lang="ko-KR" altLang="en-US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이러한 복잡한 구조의 데이터를 체계화 할 필요성이 있습니다</a:t>
            </a:r>
            <a:r>
              <a:rPr lang="en-US" altLang="ko-KR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</a:t>
            </a:r>
            <a:endParaRPr lang="en-US" sz="2692" b="0" i="0" u="none" strike="noStrike">
              <a:solidFill>
                <a:srgbClr val="595959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637ED64-A3C7-EE13-2D2D-686756417118}"/>
              </a:ext>
            </a:extLst>
          </p:cNvPr>
          <p:cNvSpPr txBox="1"/>
          <p:nvPr/>
        </p:nvSpPr>
        <p:spPr>
          <a:xfrm>
            <a:off x="13119100" y="7016750"/>
            <a:ext cx="9182100" cy="544195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200000"/>
              </a:lnSpc>
            </a:pPr>
            <a:r>
              <a:rPr lang="ko-KR" altLang="en-US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씬 데이터의 경우 단순히 게임 개발 뿐만 아니라 애니메이션</a:t>
            </a:r>
            <a:r>
              <a:rPr lang="en-US" altLang="ko-KR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영화 등 많은 요소들에서 사용되는 데이터 구조입니다</a:t>
            </a:r>
            <a:r>
              <a:rPr lang="en-US" altLang="ko-KR" sz="2692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</a:t>
            </a:r>
          </a:p>
          <a:p>
            <a:pPr lvl="0">
              <a:lnSpc>
                <a:spcPct val="200000"/>
              </a:lnSpc>
            </a:pPr>
            <a:r>
              <a:rPr lang="ko-KR" altLang="en-US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특히 기획자가 이러한 구조화 된 데이터로 요구사항을 전달하면 자신의 의도를 명확하게 전달하게 되고</a:t>
            </a:r>
            <a:r>
              <a:rPr lang="en-US" altLang="ko-KR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개발자 입장에서도 기획자의 개발 의도를 확실하게 반영 가능해집니다</a:t>
            </a:r>
            <a:r>
              <a:rPr lang="en-US" altLang="ko-KR" sz="2692" b="0" i="0" u="none" strike="noStrike">
                <a:solidFill>
                  <a:srgbClr val="595959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.</a:t>
            </a:r>
            <a:endParaRPr lang="ko-KR" sz="2692" b="0" i="0" u="none" strike="noStrike">
              <a:solidFill>
                <a:srgbClr val="595959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73C4BC5-2732-A482-796E-DF0B151E08D6}"/>
              </a:ext>
            </a:extLst>
          </p:cNvPr>
          <p:cNvSpPr txBox="1"/>
          <p:nvPr/>
        </p:nvSpPr>
        <p:spPr>
          <a:xfrm>
            <a:off x="13314948" y="5143500"/>
            <a:ext cx="8902700" cy="130810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6600" b="0" i="0" u="none" strike="noStrike" spc="-134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데이터화 필요성</a:t>
            </a:r>
            <a:endParaRPr lang="en" sz="6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489423AE-A751-2B9B-95B7-A49B7958987F}"/>
              </a:ext>
            </a:extLst>
          </p:cNvPr>
          <p:cNvSpPr txBox="1"/>
          <p:nvPr/>
        </p:nvSpPr>
        <p:spPr>
          <a:xfrm>
            <a:off x="1854200" y="5181600"/>
            <a:ext cx="9690100" cy="127000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6600" b="0" i="0" u="none" strike="noStrike" spc="-134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다양한 유형의 데이터 구조</a:t>
            </a:r>
            <a:endParaRPr lang="en" sz="6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F533571-E493-F164-6B13-5122990AC8CB}"/>
              </a:ext>
            </a:extLst>
          </p:cNvPr>
          <p:cNvSpPr txBox="1"/>
          <p:nvPr/>
        </p:nvSpPr>
        <p:spPr>
          <a:xfrm>
            <a:off x="21653500" y="596900"/>
            <a:ext cx="1549400" cy="279400"/>
          </a:xfrm>
          <a:prstGeom prst="rect">
            <a:avLst/>
          </a:prstGeom>
        </p:spPr>
        <p:txBody>
          <a:bodyPr lIns="0" tIns="20320" rIns="0" bIns="20320" rtlCol="0" anchor="ctr"/>
          <a:lstStyle/>
          <a:p>
            <a:pPr lvl="0" algn="ctr">
              <a:lnSpc>
                <a:spcPct val="99600"/>
              </a:lnSpc>
            </a:pPr>
            <a:r>
              <a:rPr lang="en" sz="1600" b="0" i="0" u="none" strike="noStrike" spc="-16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ECE1679-B809-E4DE-70DD-166D656E837D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pic>
        <p:nvPicPr>
          <p:cNvPr id="20" name="Picture 20">
            <a:extLst>
              <a:ext uri="{FF2B5EF4-FFF2-40B4-BE49-F238E27FC236}">
                <a16:creationId xmlns:a16="http://schemas.microsoft.com/office/drawing/2014/main" id="{AF8379E1-405B-72A4-C91F-67B34FC8D7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34815" y="3905250"/>
            <a:ext cx="3378200" cy="901700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A411440C-8F0A-DF36-1D4A-2687DFB2D992}"/>
              </a:ext>
            </a:extLst>
          </p:cNvPr>
          <p:cNvSpPr txBox="1"/>
          <p:nvPr/>
        </p:nvSpPr>
        <p:spPr>
          <a:xfrm>
            <a:off x="1822115" y="4108450"/>
            <a:ext cx="34290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666" spc="-27">
                <a:solidFill>
                  <a:srgbClr val="FFFFFF"/>
                </a:solidFill>
                <a:latin typeface="Anek Bangla Expanded Medium"/>
              </a:rPr>
              <a:t>Point</a:t>
            </a:r>
            <a:r>
              <a:rPr lang="ko-KR" altLang="en-US" sz="2666" spc="-27">
                <a:solidFill>
                  <a:srgbClr val="FFFFFF"/>
                </a:solidFill>
                <a:latin typeface="Anek Bangla Expanded Medium"/>
              </a:rPr>
              <a:t> </a:t>
            </a:r>
            <a:r>
              <a:rPr lang="en-US" altLang="ko-KR" sz="2666" spc="-27">
                <a:solidFill>
                  <a:srgbClr val="FFFFFF"/>
                </a:solidFill>
                <a:latin typeface="Anek Bangla Expanded Medium"/>
              </a:rPr>
              <a:t>1</a:t>
            </a:r>
            <a:endParaRPr lang="en" sz="2666" b="0" i="0" u="none" strike="noStrike" spc="-27">
              <a:solidFill>
                <a:srgbClr val="FFFFFF"/>
              </a:solidFill>
              <a:latin typeface="Anek Bangla Expanded Medium"/>
            </a:endParaRPr>
          </a:p>
        </p:txBody>
      </p:sp>
      <p:pic>
        <p:nvPicPr>
          <p:cNvPr id="22" name="Picture 22">
            <a:extLst>
              <a:ext uri="{FF2B5EF4-FFF2-40B4-BE49-F238E27FC236}">
                <a16:creationId xmlns:a16="http://schemas.microsoft.com/office/drawing/2014/main" id="{5FAF3C58-40EC-0911-26CC-F68B62327C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58415" y="3905250"/>
            <a:ext cx="3378200" cy="9017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FC017EA1-28A1-AF9C-738C-D0EB78FD3C4B}"/>
              </a:ext>
            </a:extLst>
          </p:cNvPr>
          <p:cNvSpPr txBox="1"/>
          <p:nvPr/>
        </p:nvSpPr>
        <p:spPr>
          <a:xfrm>
            <a:off x="12845715" y="4108450"/>
            <a:ext cx="3429000" cy="469900"/>
          </a:xfrm>
          <a:prstGeom prst="rect">
            <a:avLst/>
          </a:prstGeom>
        </p:spPr>
        <p:txBody>
          <a:bodyPr lIns="0" tIns="3386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666" b="0" i="0" u="none" strike="noStrike" spc="-27">
                <a:solidFill>
                  <a:srgbClr val="FFFFFF"/>
                </a:solidFill>
                <a:latin typeface="Anek Bangla Expanded Medium"/>
              </a:rPr>
              <a:t>Point 2</a:t>
            </a:r>
          </a:p>
        </p:txBody>
      </p:sp>
    </p:spTree>
    <p:extLst>
      <p:ext uri="{BB962C8B-B14F-4D97-AF65-F5344CB8AC3E}">
        <p14:creationId xmlns:p14="http://schemas.microsoft.com/office/powerpoint/2010/main" val="3812094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8700" y="5092700"/>
            <a:ext cx="8394700" cy="886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914400" y="5092700"/>
            <a:ext cx="9131300" cy="12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346200" y="1244600"/>
            <a:ext cx="10756900" cy="2044700"/>
          </a:xfrm>
          <a:prstGeom prst="rect">
            <a:avLst/>
          </a:prstGeom>
        </p:spPr>
        <p:txBody>
          <a:bodyPr lIns="0" tIns="254847" rIns="0" bIns="0" rtlCol="0" anchor="t"/>
          <a:lstStyle/>
          <a:p>
            <a:pPr lvl="0" algn="l">
              <a:lnSpc>
                <a:spcPct val="87149"/>
              </a:lnSpc>
            </a:pPr>
            <a:r>
              <a:rPr lang="en" sz="8800" b="0" i="0" u="none" strike="noStrike" spc="-229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2. XML </a:t>
            </a:r>
            <a:r>
              <a:rPr lang="ko-KR" altLang="en-US" sz="8800" b="0" i="0" u="none" strike="noStrike" spc="-229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 구조도</a:t>
            </a:r>
            <a:endParaRPr lang="en" sz="8800" b="0" i="0" u="none" strike="noStrike" spc="-229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187450" y="2794000"/>
            <a:ext cx="10782300" cy="1524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4000" b="0" i="0" u="none" strike="noStrike">
                <a:solidFill>
                  <a:srgbClr val="000000"/>
                </a:solidFill>
                <a:ea typeface="S-Core Dream 4 Regular"/>
              </a:rPr>
              <a:t>전망대 정보는 다음과 같이 계층화 가능합니다</a:t>
            </a:r>
            <a:r>
              <a:rPr lang="en-US" altLang="ko-KR" sz="4000" b="0" i="0" u="none" strike="noStrike">
                <a:solidFill>
                  <a:srgbClr val="000000"/>
                </a:solidFill>
                <a:ea typeface="S-Core Dream 4 Regular"/>
              </a:rPr>
              <a:t>.</a:t>
            </a:r>
            <a:endParaRPr lang="en-US" sz="4000" b="0" i="0" u="none" strike="noStrike">
              <a:solidFill>
                <a:srgbClr val="000000"/>
              </a:solidFill>
              <a:latin typeface="S-Core Dream 4 Regula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35050" y="5226050"/>
            <a:ext cx="533400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오브젝트 이름</a:t>
            </a:r>
            <a:endParaRPr lang="en-US" sz="3200" b="0" i="0" u="none" strike="noStrike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33" name="Picture 7">
            <a:extLst>
              <a:ext uri="{FF2B5EF4-FFF2-40B4-BE49-F238E27FC236}">
                <a16:creationId xmlns:a16="http://schemas.microsoft.com/office/drawing/2014/main" id="{9825A7E3-6FC5-3F21-F7D6-2B9F7E9B96F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914400" y="6121400"/>
            <a:ext cx="9131300" cy="12700"/>
          </a:xfrm>
          <a:prstGeom prst="rect">
            <a:avLst/>
          </a:prstGeom>
        </p:spPr>
      </p:pic>
      <p:sp>
        <p:nvSpPr>
          <p:cNvPr id="34" name="TextBox 23">
            <a:extLst>
              <a:ext uri="{FF2B5EF4-FFF2-40B4-BE49-F238E27FC236}">
                <a16:creationId xmlns:a16="http://schemas.microsoft.com/office/drawing/2014/main" id="{EC881324-62CE-3CDC-F80F-DBC6527142AA}"/>
              </a:ext>
            </a:extLst>
          </p:cNvPr>
          <p:cNvSpPr txBox="1"/>
          <p:nvPr/>
        </p:nvSpPr>
        <p:spPr>
          <a:xfrm>
            <a:off x="1035050" y="6254750"/>
            <a:ext cx="1039495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오브젝트 메타 데이터</a:t>
            </a:r>
            <a:r>
              <a:rPr lang="en-US" altLang="ko-KR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(Transform, Rotation, Scale)</a:t>
            </a:r>
            <a:endParaRPr lang="en-US" sz="3200" b="0" i="0" u="none" strike="noStrike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35" name="Picture 7">
            <a:extLst>
              <a:ext uri="{FF2B5EF4-FFF2-40B4-BE49-F238E27FC236}">
                <a16:creationId xmlns:a16="http://schemas.microsoft.com/office/drawing/2014/main" id="{4D580CB3-8D38-EF65-B7B5-D3F5581D772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908050" y="7150100"/>
            <a:ext cx="9131300" cy="12700"/>
          </a:xfrm>
          <a:prstGeom prst="rect">
            <a:avLst/>
          </a:prstGeom>
        </p:spPr>
      </p:pic>
      <p:sp>
        <p:nvSpPr>
          <p:cNvPr id="36" name="TextBox 23">
            <a:extLst>
              <a:ext uri="{FF2B5EF4-FFF2-40B4-BE49-F238E27FC236}">
                <a16:creationId xmlns:a16="http://schemas.microsoft.com/office/drawing/2014/main" id="{188CC029-9973-6E00-4721-3FDA1F174006}"/>
              </a:ext>
            </a:extLst>
          </p:cNvPr>
          <p:cNvSpPr txBox="1"/>
          <p:nvPr/>
        </p:nvSpPr>
        <p:spPr>
          <a:xfrm>
            <a:off x="1028700" y="7283450"/>
            <a:ext cx="933450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오브젝트에 붙은 컴포넌트 정보</a:t>
            </a:r>
            <a:r>
              <a:rPr lang="en-US" altLang="ko-KR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(Script, Material </a:t>
            </a:r>
            <a:r>
              <a:rPr lang="ko-KR" altLang="en-US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등</a:t>
            </a:r>
            <a:r>
              <a:rPr lang="en-US" altLang="ko-KR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)</a:t>
            </a:r>
            <a:endParaRPr lang="en-US" sz="3200" b="0" i="0" u="none" strike="noStrike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37" name="Picture 7">
            <a:extLst>
              <a:ext uri="{FF2B5EF4-FFF2-40B4-BE49-F238E27FC236}">
                <a16:creationId xmlns:a16="http://schemas.microsoft.com/office/drawing/2014/main" id="{11EA28DB-73D0-5D48-1E77-F0AE219DC5D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908050" y="8178800"/>
            <a:ext cx="9131300" cy="12700"/>
          </a:xfrm>
          <a:prstGeom prst="rect">
            <a:avLst/>
          </a:prstGeom>
        </p:spPr>
      </p:pic>
      <p:sp>
        <p:nvSpPr>
          <p:cNvPr id="38" name="TextBox 23">
            <a:extLst>
              <a:ext uri="{FF2B5EF4-FFF2-40B4-BE49-F238E27FC236}">
                <a16:creationId xmlns:a16="http://schemas.microsoft.com/office/drawing/2014/main" id="{7CF4280E-F1AD-4EC4-166A-07C4F8FFA60B}"/>
              </a:ext>
            </a:extLst>
          </p:cNvPr>
          <p:cNvSpPr txBox="1"/>
          <p:nvPr/>
        </p:nvSpPr>
        <p:spPr>
          <a:xfrm>
            <a:off x="1028700" y="8312150"/>
            <a:ext cx="533400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200" b="0" i="0" u="none" strike="noStrike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각 컴포넌트의 특성</a:t>
            </a:r>
            <a:endParaRPr lang="en-US" sz="3200" b="0" i="0" u="none" strike="noStrike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39" name="Picture 7">
            <a:extLst>
              <a:ext uri="{FF2B5EF4-FFF2-40B4-BE49-F238E27FC236}">
                <a16:creationId xmlns:a16="http://schemas.microsoft.com/office/drawing/2014/main" id="{71EC02B9-80DF-E853-71F4-F7500262FAA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914400" y="9207500"/>
            <a:ext cx="9131300" cy="12700"/>
          </a:xfrm>
          <a:prstGeom prst="rect">
            <a:avLst/>
          </a:prstGeom>
        </p:spPr>
      </p:pic>
      <p:sp>
        <p:nvSpPr>
          <p:cNvPr id="40" name="TextBox 23">
            <a:extLst>
              <a:ext uri="{FF2B5EF4-FFF2-40B4-BE49-F238E27FC236}">
                <a16:creationId xmlns:a16="http://schemas.microsoft.com/office/drawing/2014/main" id="{A18ECA9F-B5F2-5A60-3172-40BF0B3716B1}"/>
              </a:ext>
            </a:extLst>
          </p:cNvPr>
          <p:cNvSpPr txBox="1"/>
          <p:nvPr/>
        </p:nvSpPr>
        <p:spPr>
          <a:xfrm>
            <a:off x="1035050" y="9340850"/>
            <a:ext cx="7270750" cy="7620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320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오브젝트 간의 부모</a:t>
            </a:r>
            <a:r>
              <a:rPr lang="en-US" altLang="ko-KR" sz="320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, </a:t>
            </a:r>
            <a:r>
              <a:rPr lang="ko-KR" altLang="en-US" sz="3200">
                <a:solidFill>
                  <a:srgbClr val="595959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자식 관계</a:t>
            </a:r>
            <a:endParaRPr lang="en-US" sz="3200" b="0" i="0" u="none" strike="noStrike">
              <a:solidFill>
                <a:srgbClr val="595959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7D935E5-8A65-781F-37DF-EF819B70B7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2324" y="4064000"/>
            <a:ext cx="9791700" cy="6438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0A84D6-1AE7-AF64-65B1-EC0A64937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4468C5F-AC40-533A-03D4-AB418C791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D7EA809-5AB2-C794-9254-62BEE897C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A621E066-2948-238A-311A-0D96479D0C7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8267700" y="1536700"/>
            <a:ext cx="8077200" cy="25400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E1969A33-9047-1543-3DE6-1F5FC2F58053}"/>
              </a:ext>
            </a:extLst>
          </p:cNvPr>
          <p:cNvSpPr txBox="1"/>
          <p:nvPr/>
        </p:nvSpPr>
        <p:spPr>
          <a:xfrm>
            <a:off x="1346200" y="1244600"/>
            <a:ext cx="13423900" cy="21336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" sz="6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3. ELEMENT </a:t>
            </a:r>
            <a:r>
              <a:rPr lang="ko-KR" altLang="en-US" sz="6000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6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BEC4D2A-DBF4-2A09-6755-3B94D7570836}"/>
              </a:ext>
            </a:extLst>
          </p:cNvPr>
          <p:cNvSpPr txBox="1"/>
          <p:nvPr/>
        </p:nvSpPr>
        <p:spPr>
          <a:xfrm>
            <a:off x="11604458" y="2408989"/>
            <a:ext cx="4356100" cy="1502611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en-US" altLang="ko-KR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Root </a:t>
            </a:r>
            <a:r>
              <a:rPr lang="ko-KR" altLang="en-US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요소로 </a:t>
            </a:r>
            <a:endParaRPr lang="en-US" altLang="ko-KR" sz="2400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  <a:p>
            <a:pPr lvl="0" algn="l">
              <a:lnSpc>
                <a:spcPct val="131970"/>
              </a:lnSpc>
            </a:pPr>
            <a:r>
              <a:rPr lang="ko-KR" altLang="en-US" sz="2400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씬 </a:t>
            </a:r>
            <a:r>
              <a:rPr lang="en-US" altLang="ko-KR" sz="2400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XML </a:t>
            </a:r>
            <a:r>
              <a:rPr lang="ko-KR" altLang="en-US" sz="2400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구조의 기반</a:t>
            </a:r>
            <a:endParaRPr lang="en-US" sz="2400" b="0" i="0" u="none" strike="noStrike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AD29332-0EB3-193C-4A13-59971456AB10}"/>
              </a:ext>
            </a:extLst>
          </p:cNvPr>
          <p:cNvSpPr txBox="1"/>
          <p:nvPr/>
        </p:nvSpPr>
        <p:spPr>
          <a:xfrm>
            <a:off x="11576384" y="1638300"/>
            <a:ext cx="3467100" cy="546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en-US" altLang="ko-KR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Root Element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9C382126-6B48-80D6-8518-FFCFEC7E19B1}"/>
              </a:ext>
            </a:extLst>
          </p:cNvPr>
          <p:cNvSpPr txBox="1"/>
          <p:nvPr/>
        </p:nvSpPr>
        <p:spPr>
          <a:xfrm>
            <a:off x="8427452" y="2408989"/>
            <a:ext cx="2884905" cy="111760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scene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1AD0C79B-9683-5DA1-689E-05A8AC829D83}"/>
              </a:ext>
            </a:extLst>
          </p:cNvPr>
          <p:cNvSpPr txBox="1"/>
          <p:nvPr/>
        </p:nvSpPr>
        <p:spPr>
          <a:xfrm>
            <a:off x="21653500" y="596900"/>
            <a:ext cx="1549400" cy="279400"/>
          </a:xfrm>
          <a:prstGeom prst="rect">
            <a:avLst/>
          </a:prstGeom>
        </p:spPr>
        <p:txBody>
          <a:bodyPr lIns="0" tIns="20320" rIns="0" bIns="20320" rtlCol="0" anchor="ctr"/>
          <a:lstStyle/>
          <a:p>
            <a:pPr lvl="0" algn="ctr">
              <a:lnSpc>
                <a:spcPct val="99600"/>
              </a:lnSpc>
            </a:pPr>
            <a:r>
              <a:rPr lang="en" sz="1600" b="0" i="0" u="none" strike="noStrike" spc="-16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83223C9-7B44-75D5-F13C-3D218F82486A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A819190-4717-AD59-2900-A58F80D09DEC}"/>
              </a:ext>
            </a:extLst>
          </p:cNvPr>
          <p:cNvCxnSpPr>
            <a:cxnSpLocks/>
          </p:cNvCxnSpPr>
          <p:nvPr/>
        </p:nvCxnSpPr>
        <p:spPr>
          <a:xfrm>
            <a:off x="11368504" y="1714500"/>
            <a:ext cx="0" cy="21971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Picture 6">
            <a:extLst>
              <a:ext uri="{FF2B5EF4-FFF2-40B4-BE49-F238E27FC236}">
                <a16:creationId xmlns:a16="http://schemas.microsoft.com/office/drawing/2014/main" id="{3B7BA924-41E3-E93D-331D-F5C6932ADDA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8267700" y="4410910"/>
            <a:ext cx="8077200" cy="2540000"/>
          </a:xfrm>
          <a:prstGeom prst="rect">
            <a:avLst/>
          </a:prstGeom>
        </p:spPr>
      </p:pic>
      <p:sp>
        <p:nvSpPr>
          <p:cNvPr id="31" name="TextBox 19">
            <a:extLst>
              <a:ext uri="{FF2B5EF4-FFF2-40B4-BE49-F238E27FC236}">
                <a16:creationId xmlns:a16="http://schemas.microsoft.com/office/drawing/2014/main" id="{E9A95C3A-D434-8170-2302-1BCEE2CA439A}"/>
              </a:ext>
            </a:extLst>
          </p:cNvPr>
          <p:cNvSpPr txBox="1"/>
          <p:nvPr/>
        </p:nvSpPr>
        <p:spPr>
          <a:xfrm>
            <a:off x="11604458" y="5283199"/>
            <a:ext cx="4356100" cy="1502611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씬 내의 다양한 유형의 오브젝트 정보들을 표현한다</a:t>
            </a:r>
            <a:endParaRPr lang="en-US" sz="2400" b="0" i="0" u="none" strike="noStrike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FF32247E-6858-C5AF-3E15-26DCFF8C3417}"/>
              </a:ext>
            </a:extLst>
          </p:cNvPr>
          <p:cNvSpPr txBox="1"/>
          <p:nvPr/>
        </p:nvSpPr>
        <p:spPr>
          <a:xfrm>
            <a:off x="11576384" y="4512510"/>
            <a:ext cx="3467100" cy="5461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오브젝트</a:t>
            </a:r>
            <a:r>
              <a:rPr lang="en-US" altLang="ko-KR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Element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33" name="TextBox 21">
            <a:extLst>
              <a:ext uri="{FF2B5EF4-FFF2-40B4-BE49-F238E27FC236}">
                <a16:creationId xmlns:a16="http://schemas.microsoft.com/office/drawing/2014/main" id="{8CCC1E72-3E4D-16E0-2A9D-CEAC8BA579A0}"/>
              </a:ext>
            </a:extLst>
          </p:cNvPr>
          <p:cNvSpPr txBox="1"/>
          <p:nvPr/>
        </p:nvSpPr>
        <p:spPr>
          <a:xfrm>
            <a:off x="8427452" y="5283199"/>
            <a:ext cx="2884905" cy="111760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object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CBA60801-0A5E-2B11-EC3D-F934E62F1542}"/>
              </a:ext>
            </a:extLst>
          </p:cNvPr>
          <p:cNvCxnSpPr>
            <a:cxnSpLocks/>
          </p:cNvCxnSpPr>
          <p:nvPr/>
        </p:nvCxnSpPr>
        <p:spPr>
          <a:xfrm>
            <a:off x="11368504" y="4588710"/>
            <a:ext cx="0" cy="21971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6">
            <a:extLst>
              <a:ext uri="{FF2B5EF4-FFF2-40B4-BE49-F238E27FC236}">
                <a16:creationId xmlns:a16="http://schemas.microsoft.com/office/drawing/2014/main" id="{605FBCD2-D377-BB9B-32EB-4E5475C6B19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2639412" y="7950867"/>
            <a:ext cx="7386421" cy="1502611"/>
          </a:xfrm>
          <a:prstGeom prst="rect">
            <a:avLst/>
          </a:prstGeom>
        </p:spPr>
      </p:pic>
      <p:sp>
        <p:nvSpPr>
          <p:cNvPr id="36" name="TextBox 19">
            <a:extLst>
              <a:ext uri="{FF2B5EF4-FFF2-40B4-BE49-F238E27FC236}">
                <a16:creationId xmlns:a16="http://schemas.microsoft.com/office/drawing/2014/main" id="{5BF7CECE-27B5-9D8D-AB4B-B7ADEFA96057}"/>
              </a:ext>
            </a:extLst>
          </p:cNvPr>
          <p:cNvSpPr txBox="1"/>
          <p:nvPr/>
        </p:nvSpPr>
        <p:spPr>
          <a:xfrm>
            <a:off x="5976170" y="8823156"/>
            <a:ext cx="3873677" cy="502653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위치</a:t>
            </a:r>
            <a:r>
              <a:rPr lang="en-US" altLang="ko-KR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회전</a:t>
            </a:r>
            <a:r>
              <a:rPr lang="en-US" altLang="ko-KR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, </a:t>
            </a:r>
            <a:r>
              <a:rPr lang="ko-KR" altLang="en-US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크기 값을 지정</a:t>
            </a:r>
            <a:endParaRPr lang="en-US" altLang="ko-KR" sz="2400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DDD0CD5D-6B83-AA74-6AE5-72B88AD90977}"/>
              </a:ext>
            </a:extLst>
          </p:cNvPr>
          <p:cNvSpPr txBox="1"/>
          <p:nvPr/>
        </p:nvSpPr>
        <p:spPr>
          <a:xfrm>
            <a:off x="5948095" y="8052466"/>
            <a:ext cx="4384173" cy="60558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메타 데이터</a:t>
            </a:r>
            <a:r>
              <a:rPr lang="en-US" altLang="ko-KR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 Element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38" name="TextBox 21">
            <a:extLst>
              <a:ext uri="{FF2B5EF4-FFF2-40B4-BE49-F238E27FC236}">
                <a16:creationId xmlns:a16="http://schemas.microsoft.com/office/drawing/2014/main" id="{CD15F205-2217-55C8-5354-D574CEC7A94E}"/>
              </a:ext>
            </a:extLst>
          </p:cNvPr>
          <p:cNvSpPr txBox="1"/>
          <p:nvPr/>
        </p:nvSpPr>
        <p:spPr>
          <a:xfrm>
            <a:off x="2799164" y="8387010"/>
            <a:ext cx="2884905" cy="630323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transform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74F2D877-5635-48F9-B2D5-15CCA547AE9B}"/>
              </a:ext>
            </a:extLst>
          </p:cNvPr>
          <p:cNvCxnSpPr>
            <a:cxnSpLocks/>
          </p:cNvCxnSpPr>
          <p:nvPr/>
        </p:nvCxnSpPr>
        <p:spPr>
          <a:xfrm>
            <a:off x="5740216" y="8128667"/>
            <a:ext cx="0" cy="10855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A57E69D5-C5CE-F353-5C74-DDA77DE01E6F}"/>
              </a:ext>
            </a:extLst>
          </p:cNvPr>
          <p:cNvCxnSpPr/>
          <p:nvPr/>
        </p:nvCxnSpPr>
        <p:spPr>
          <a:xfrm>
            <a:off x="12192000" y="4076700"/>
            <a:ext cx="0" cy="33421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49C479CE-BE45-31E9-F3DC-35BC3577CE84}"/>
              </a:ext>
            </a:extLst>
          </p:cNvPr>
          <p:cNvCxnSpPr>
            <a:cxnSpLocks/>
            <a:stCxn id="30" idx="2"/>
            <a:endCxn id="35" idx="0"/>
          </p:cNvCxnSpPr>
          <p:nvPr/>
        </p:nvCxnSpPr>
        <p:spPr>
          <a:xfrm rot="5400000">
            <a:off x="8819484" y="4464050"/>
            <a:ext cx="999957" cy="597367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91D5B34A-B5B3-5B62-ACC3-02A6578DA7AB}"/>
              </a:ext>
            </a:extLst>
          </p:cNvPr>
          <p:cNvCxnSpPr>
            <a:cxnSpLocks/>
            <a:stCxn id="30" idx="2"/>
            <a:endCxn id="82" idx="0"/>
          </p:cNvCxnSpPr>
          <p:nvPr/>
        </p:nvCxnSpPr>
        <p:spPr>
          <a:xfrm rot="16200000" flipH="1">
            <a:off x="14292146" y="4965064"/>
            <a:ext cx="1062788" cy="503448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2" name="Picture 6">
            <a:extLst>
              <a:ext uri="{FF2B5EF4-FFF2-40B4-BE49-F238E27FC236}">
                <a16:creationId xmlns:a16="http://schemas.microsoft.com/office/drawing/2014/main" id="{9DF0A405-32A2-C566-647F-D7DCC883C60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3647569" y="8013698"/>
            <a:ext cx="7386421" cy="1502611"/>
          </a:xfrm>
          <a:prstGeom prst="rect">
            <a:avLst/>
          </a:prstGeom>
        </p:spPr>
      </p:pic>
      <p:sp>
        <p:nvSpPr>
          <p:cNvPr id="83" name="TextBox 20">
            <a:extLst>
              <a:ext uri="{FF2B5EF4-FFF2-40B4-BE49-F238E27FC236}">
                <a16:creationId xmlns:a16="http://schemas.microsoft.com/office/drawing/2014/main" id="{E7027AFE-72E1-E754-C345-CC64583DF0BC}"/>
              </a:ext>
            </a:extLst>
          </p:cNvPr>
          <p:cNvSpPr txBox="1"/>
          <p:nvPr/>
        </p:nvSpPr>
        <p:spPr>
          <a:xfrm>
            <a:off x="16885770" y="8128667"/>
            <a:ext cx="4384173" cy="605589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컴포넌트 </a:t>
            </a:r>
            <a:r>
              <a:rPr lang="en-US" altLang="ko-KR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Element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84" name="TextBox 21">
            <a:extLst>
              <a:ext uri="{FF2B5EF4-FFF2-40B4-BE49-F238E27FC236}">
                <a16:creationId xmlns:a16="http://schemas.microsoft.com/office/drawing/2014/main" id="{FB674511-F934-2541-4020-7CCDB900CE92}"/>
              </a:ext>
            </a:extLst>
          </p:cNvPr>
          <p:cNvSpPr txBox="1"/>
          <p:nvPr/>
        </p:nvSpPr>
        <p:spPr>
          <a:xfrm>
            <a:off x="13807321" y="8449841"/>
            <a:ext cx="2884905" cy="630323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components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158AD54-16E9-3DA9-72F7-60610FC98AF9}"/>
              </a:ext>
            </a:extLst>
          </p:cNvPr>
          <p:cNvCxnSpPr>
            <a:cxnSpLocks/>
          </p:cNvCxnSpPr>
          <p:nvPr/>
        </p:nvCxnSpPr>
        <p:spPr>
          <a:xfrm>
            <a:off x="16748373" y="8191498"/>
            <a:ext cx="0" cy="10855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TextBox 19">
            <a:extLst>
              <a:ext uri="{FF2B5EF4-FFF2-40B4-BE49-F238E27FC236}">
                <a16:creationId xmlns:a16="http://schemas.microsoft.com/office/drawing/2014/main" id="{93550835-3D17-C3AB-56A5-DCF3A229E5C9}"/>
              </a:ext>
            </a:extLst>
          </p:cNvPr>
          <p:cNvSpPr txBox="1"/>
          <p:nvPr/>
        </p:nvSpPr>
        <p:spPr>
          <a:xfrm>
            <a:off x="16988336" y="8842207"/>
            <a:ext cx="4009743" cy="434807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31970"/>
              </a:lnSpc>
            </a:pPr>
            <a:r>
              <a:rPr lang="ko-KR" altLang="en-US" sz="2400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오브젝트에 붙는 컴포넌트</a:t>
            </a:r>
            <a:endParaRPr lang="en-US" altLang="ko-KR" sz="2400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pic>
        <p:nvPicPr>
          <p:cNvPr id="93" name="Picture 6">
            <a:extLst>
              <a:ext uri="{FF2B5EF4-FFF2-40B4-BE49-F238E27FC236}">
                <a16:creationId xmlns:a16="http://schemas.microsoft.com/office/drawing/2014/main" id="{E4A57CAB-52F8-C56E-C845-0CD351BD776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2719212" y="10088284"/>
            <a:ext cx="3056095" cy="1307275"/>
          </a:xfrm>
          <a:prstGeom prst="rect">
            <a:avLst/>
          </a:prstGeom>
        </p:spPr>
      </p:pic>
      <p:sp>
        <p:nvSpPr>
          <p:cNvPr id="95" name="TextBox 20">
            <a:extLst>
              <a:ext uri="{FF2B5EF4-FFF2-40B4-BE49-F238E27FC236}">
                <a16:creationId xmlns:a16="http://schemas.microsoft.com/office/drawing/2014/main" id="{D8C31BF7-506D-8B4F-4CFB-8715D123BA3A}"/>
              </a:ext>
            </a:extLst>
          </p:cNvPr>
          <p:cNvSpPr txBox="1"/>
          <p:nvPr/>
        </p:nvSpPr>
        <p:spPr>
          <a:xfrm>
            <a:off x="4545613" y="10415841"/>
            <a:ext cx="1229693" cy="605589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1970"/>
              </a:lnSpc>
            </a:pPr>
            <a:r>
              <a:rPr lang="ko-KR" altLang="en-US" sz="3066" b="0" i="0" u="none" strike="noStrike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위치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96" name="TextBox 21">
            <a:extLst>
              <a:ext uri="{FF2B5EF4-FFF2-40B4-BE49-F238E27FC236}">
                <a16:creationId xmlns:a16="http://schemas.microsoft.com/office/drawing/2014/main" id="{53647381-EFC4-B68B-3ED1-6788FB6753EE}"/>
              </a:ext>
            </a:extLst>
          </p:cNvPr>
          <p:cNvSpPr txBox="1"/>
          <p:nvPr/>
        </p:nvSpPr>
        <p:spPr>
          <a:xfrm>
            <a:off x="2865208" y="10439126"/>
            <a:ext cx="1629619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position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98" name="Picture 6">
            <a:extLst>
              <a:ext uri="{FF2B5EF4-FFF2-40B4-BE49-F238E27FC236}">
                <a16:creationId xmlns:a16="http://schemas.microsoft.com/office/drawing/2014/main" id="{4B8C6099-1AE9-D225-4A19-3A752A25AF1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6969738" y="10088284"/>
            <a:ext cx="3056095" cy="1307275"/>
          </a:xfrm>
          <a:prstGeom prst="rect">
            <a:avLst/>
          </a:prstGeom>
        </p:spPr>
      </p:pic>
      <p:sp>
        <p:nvSpPr>
          <p:cNvPr id="99" name="TextBox 20">
            <a:extLst>
              <a:ext uri="{FF2B5EF4-FFF2-40B4-BE49-F238E27FC236}">
                <a16:creationId xmlns:a16="http://schemas.microsoft.com/office/drawing/2014/main" id="{8AF6C420-8C70-ABB7-D4E8-9E47FD2FEA76}"/>
              </a:ext>
            </a:extLst>
          </p:cNvPr>
          <p:cNvSpPr txBox="1"/>
          <p:nvPr/>
        </p:nvSpPr>
        <p:spPr>
          <a:xfrm>
            <a:off x="8068067" y="10415841"/>
            <a:ext cx="1957766" cy="605589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1970"/>
              </a:lnSpc>
            </a:pPr>
            <a:r>
              <a:rPr lang="ko-KR" altLang="en-US" sz="3066" b="0" i="0" u="none" strike="noStrike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크기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00" name="TextBox 21">
            <a:extLst>
              <a:ext uri="{FF2B5EF4-FFF2-40B4-BE49-F238E27FC236}">
                <a16:creationId xmlns:a16="http://schemas.microsoft.com/office/drawing/2014/main" id="{A1B8AAEA-5FC7-283E-6F48-826F04C9F61A}"/>
              </a:ext>
            </a:extLst>
          </p:cNvPr>
          <p:cNvSpPr txBox="1"/>
          <p:nvPr/>
        </p:nvSpPr>
        <p:spPr>
          <a:xfrm>
            <a:off x="7043645" y="10429784"/>
            <a:ext cx="1157485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scale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B89FE8C8-744F-3AEC-8095-92B30E2FF7A1}"/>
              </a:ext>
            </a:extLst>
          </p:cNvPr>
          <p:cNvCxnSpPr>
            <a:cxnSpLocks/>
            <a:stCxn id="35" idx="2"/>
            <a:endCxn id="93" idx="0"/>
          </p:cNvCxnSpPr>
          <p:nvPr/>
        </p:nvCxnSpPr>
        <p:spPr>
          <a:xfrm flipH="1">
            <a:off x="4247260" y="9453478"/>
            <a:ext cx="2085363" cy="6348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27D4A99E-340B-2E44-FCDA-08A4A6939334}"/>
              </a:ext>
            </a:extLst>
          </p:cNvPr>
          <p:cNvCxnSpPr>
            <a:cxnSpLocks/>
            <a:stCxn id="35" idx="2"/>
            <a:endCxn id="98" idx="0"/>
          </p:cNvCxnSpPr>
          <p:nvPr/>
        </p:nvCxnSpPr>
        <p:spPr>
          <a:xfrm>
            <a:off x="6332623" y="9453478"/>
            <a:ext cx="2165163" cy="63480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1" name="Picture 6">
            <a:extLst>
              <a:ext uri="{FF2B5EF4-FFF2-40B4-BE49-F238E27FC236}">
                <a16:creationId xmlns:a16="http://schemas.microsoft.com/office/drawing/2014/main" id="{824D9BA0-0E51-6FD2-FCD1-CA02140A5DA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4804575" y="11590895"/>
            <a:ext cx="3056095" cy="1307275"/>
          </a:xfrm>
          <a:prstGeom prst="rect">
            <a:avLst/>
          </a:prstGeom>
        </p:spPr>
      </p:pic>
      <p:sp>
        <p:nvSpPr>
          <p:cNvPr id="112" name="TextBox 20">
            <a:extLst>
              <a:ext uri="{FF2B5EF4-FFF2-40B4-BE49-F238E27FC236}">
                <a16:creationId xmlns:a16="http://schemas.microsoft.com/office/drawing/2014/main" id="{3573E030-A4D0-C2B2-AECF-68AAE59FF8D6}"/>
              </a:ext>
            </a:extLst>
          </p:cNvPr>
          <p:cNvSpPr txBox="1"/>
          <p:nvPr/>
        </p:nvSpPr>
        <p:spPr>
          <a:xfrm>
            <a:off x="6700894" y="11937719"/>
            <a:ext cx="1031042" cy="605589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1970"/>
              </a:lnSpc>
            </a:pPr>
            <a:r>
              <a:rPr lang="ko-KR" altLang="en-US" sz="3066" b="0" i="0" u="none" strike="noStrike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회전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13" name="TextBox 21">
            <a:extLst>
              <a:ext uri="{FF2B5EF4-FFF2-40B4-BE49-F238E27FC236}">
                <a16:creationId xmlns:a16="http://schemas.microsoft.com/office/drawing/2014/main" id="{34D12395-63DB-1124-E673-7C36700794D4}"/>
              </a:ext>
            </a:extLst>
          </p:cNvPr>
          <p:cNvSpPr txBox="1"/>
          <p:nvPr/>
        </p:nvSpPr>
        <p:spPr>
          <a:xfrm>
            <a:off x="4703004" y="11941737"/>
            <a:ext cx="1896319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" sz="3600" b="0" i="0" u="none" strike="noStrike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rotation</a:t>
            </a:r>
          </a:p>
        </p:txBody>
      </p: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FC11DEA3-9D78-1A00-F6DC-12CB52E529E9}"/>
              </a:ext>
            </a:extLst>
          </p:cNvPr>
          <p:cNvCxnSpPr>
            <a:cxnSpLocks/>
            <a:stCxn id="35" idx="2"/>
            <a:endCxn id="111" idx="0"/>
          </p:cNvCxnSpPr>
          <p:nvPr/>
        </p:nvCxnSpPr>
        <p:spPr>
          <a:xfrm>
            <a:off x="6332623" y="9453478"/>
            <a:ext cx="0" cy="213741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6" name="Picture 6">
            <a:extLst>
              <a:ext uri="{FF2B5EF4-FFF2-40B4-BE49-F238E27FC236}">
                <a16:creationId xmlns:a16="http://schemas.microsoft.com/office/drawing/2014/main" id="{DAD5F304-B360-71CA-9FF6-C173C1D89A4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2396182" y="10064456"/>
            <a:ext cx="4592154" cy="1307275"/>
          </a:xfrm>
          <a:prstGeom prst="rect">
            <a:avLst/>
          </a:prstGeom>
        </p:spPr>
      </p:pic>
      <p:sp>
        <p:nvSpPr>
          <p:cNvPr id="127" name="TextBox 20">
            <a:extLst>
              <a:ext uri="{FF2B5EF4-FFF2-40B4-BE49-F238E27FC236}">
                <a16:creationId xmlns:a16="http://schemas.microsoft.com/office/drawing/2014/main" id="{383E00C6-6070-7596-1298-C5EA52AE49DA}"/>
              </a:ext>
            </a:extLst>
          </p:cNvPr>
          <p:cNvSpPr txBox="1"/>
          <p:nvPr/>
        </p:nvSpPr>
        <p:spPr>
          <a:xfrm>
            <a:off x="14954007" y="10150208"/>
            <a:ext cx="1980161" cy="1177564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1970"/>
              </a:lnSpc>
            </a:pPr>
            <a:r>
              <a:rPr lang="ko-KR" altLang="en-US" sz="3066" b="0" i="0" u="none" strike="noStrike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컴포넌트 정의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28" name="TextBox 21">
            <a:extLst>
              <a:ext uri="{FF2B5EF4-FFF2-40B4-BE49-F238E27FC236}">
                <a16:creationId xmlns:a16="http://schemas.microsoft.com/office/drawing/2014/main" id="{758708C2-9219-4B0A-3A6B-29E951B4816B}"/>
              </a:ext>
            </a:extLst>
          </p:cNvPr>
          <p:cNvSpPr txBox="1"/>
          <p:nvPr/>
        </p:nvSpPr>
        <p:spPr>
          <a:xfrm>
            <a:off x="12475462" y="10405924"/>
            <a:ext cx="2514170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85A700C6-384F-296A-E0A3-CFCC95CF2983}"/>
              </a:ext>
            </a:extLst>
          </p:cNvPr>
          <p:cNvCxnSpPr>
            <a:cxnSpLocks/>
            <a:stCxn id="82" idx="2"/>
            <a:endCxn id="126" idx="0"/>
          </p:cNvCxnSpPr>
          <p:nvPr/>
        </p:nvCxnSpPr>
        <p:spPr>
          <a:xfrm flipH="1">
            <a:off x="14692259" y="9516309"/>
            <a:ext cx="2648521" cy="54814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6">
            <a:extLst>
              <a:ext uri="{FF2B5EF4-FFF2-40B4-BE49-F238E27FC236}">
                <a16:creationId xmlns:a16="http://schemas.microsoft.com/office/drawing/2014/main" id="{43084195-F900-2020-3718-ACA069B60D2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7267684" y="10064456"/>
            <a:ext cx="4592154" cy="1307275"/>
          </a:xfrm>
          <a:prstGeom prst="rect">
            <a:avLst/>
          </a:prstGeom>
        </p:spPr>
      </p:pic>
      <p:sp>
        <p:nvSpPr>
          <p:cNvPr id="15" name="TextBox 20">
            <a:extLst>
              <a:ext uri="{FF2B5EF4-FFF2-40B4-BE49-F238E27FC236}">
                <a16:creationId xmlns:a16="http://schemas.microsoft.com/office/drawing/2014/main" id="{9DABB7BB-8885-801F-19E3-9C0EEFD1D858}"/>
              </a:ext>
            </a:extLst>
          </p:cNvPr>
          <p:cNvSpPr txBox="1"/>
          <p:nvPr/>
        </p:nvSpPr>
        <p:spPr>
          <a:xfrm>
            <a:off x="19825509" y="10150208"/>
            <a:ext cx="1980161" cy="1177564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1970"/>
              </a:lnSpc>
            </a:pPr>
            <a:r>
              <a:rPr lang="ko-KR" altLang="en-US" sz="3066" b="0" i="0" u="none" strike="noStrike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컴포넌트 정의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sp>
        <p:nvSpPr>
          <p:cNvPr id="16" name="TextBox 21">
            <a:extLst>
              <a:ext uri="{FF2B5EF4-FFF2-40B4-BE49-F238E27FC236}">
                <a16:creationId xmlns:a16="http://schemas.microsoft.com/office/drawing/2014/main" id="{A4F0CBE0-1B3B-A8CA-3D6E-82042F6A220C}"/>
              </a:ext>
            </a:extLst>
          </p:cNvPr>
          <p:cNvSpPr txBox="1"/>
          <p:nvPr/>
        </p:nvSpPr>
        <p:spPr>
          <a:xfrm>
            <a:off x="17346964" y="10405924"/>
            <a:ext cx="2514170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component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98EA2FF-4688-F111-A14B-6987213C96FC}"/>
              </a:ext>
            </a:extLst>
          </p:cNvPr>
          <p:cNvCxnSpPr>
            <a:cxnSpLocks/>
            <a:stCxn id="82" idx="2"/>
            <a:endCxn id="14" idx="0"/>
          </p:cNvCxnSpPr>
          <p:nvPr/>
        </p:nvCxnSpPr>
        <p:spPr>
          <a:xfrm>
            <a:off x="17340780" y="9516309"/>
            <a:ext cx="2222981" cy="54814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407FC82-F399-9A2B-E33B-816F4CFB8635}"/>
              </a:ext>
            </a:extLst>
          </p:cNvPr>
          <p:cNvCxnSpPr>
            <a:cxnSpLocks/>
            <a:stCxn id="82" idx="2"/>
          </p:cNvCxnSpPr>
          <p:nvPr/>
        </p:nvCxnSpPr>
        <p:spPr>
          <a:xfrm>
            <a:off x="17340780" y="9516309"/>
            <a:ext cx="5149783" cy="50840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TextBox 21">
            <a:extLst>
              <a:ext uri="{FF2B5EF4-FFF2-40B4-BE49-F238E27FC236}">
                <a16:creationId xmlns:a16="http://schemas.microsoft.com/office/drawing/2014/main" id="{9FB2573F-754C-D174-3279-E675611E7F6E}"/>
              </a:ext>
            </a:extLst>
          </p:cNvPr>
          <p:cNvSpPr txBox="1"/>
          <p:nvPr/>
        </p:nvSpPr>
        <p:spPr>
          <a:xfrm>
            <a:off x="22142815" y="10136331"/>
            <a:ext cx="1154427" cy="605590"/>
          </a:xfrm>
          <a:prstGeom prst="rect">
            <a:avLst/>
          </a:prstGeom>
        </p:spPr>
        <p:txBody>
          <a:bodyPr lIns="0" tIns="139277" rIns="0" bIns="0" rtlCol="0" anchor="t"/>
          <a:lstStyle/>
          <a:p>
            <a:pPr lvl="0" algn="ctr">
              <a:lnSpc>
                <a:spcPct val="87149"/>
              </a:lnSpc>
            </a:pPr>
            <a:r>
              <a:rPr lang="en-US" sz="3600" spc="-125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…</a:t>
            </a:r>
            <a:endParaRPr lang="en" sz="3600" b="0" i="0" u="none" strike="noStrike" spc="-125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  <p:pic>
        <p:nvPicPr>
          <p:cNvPr id="43" name="Picture 6">
            <a:extLst>
              <a:ext uri="{FF2B5EF4-FFF2-40B4-BE49-F238E27FC236}">
                <a16:creationId xmlns:a16="http://schemas.microsoft.com/office/drawing/2014/main" id="{0A4ABA69-3F07-0966-2B0A-FA9BE00789D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2314321" y="11583488"/>
            <a:ext cx="9545516" cy="1307275"/>
          </a:xfrm>
          <a:prstGeom prst="rect">
            <a:avLst/>
          </a:prstGeom>
        </p:spPr>
      </p:pic>
      <p:sp>
        <p:nvSpPr>
          <p:cNvPr id="44" name="TextBox 20">
            <a:extLst>
              <a:ext uri="{FF2B5EF4-FFF2-40B4-BE49-F238E27FC236}">
                <a16:creationId xmlns:a16="http://schemas.microsoft.com/office/drawing/2014/main" id="{D815229D-5BB3-18D6-BBFB-188C5273A038}"/>
              </a:ext>
            </a:extLst>
          </p:cNvPr>
          <p:cNvSpPr txBox="1"/>
          <p:nvPr/>
        </p:nvSpPr>
        <p:spPr>
          <a:xfrm>
            <a:off x="12479473" y="11648343"/>
            <a:ext cx="9174027" cy="1177564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31970"/>
              </a:lnSpc>
            </a:pPr>
            <a:r>
              <a:rPr lang="en-US" altLang="ko-KR" sz="3066" b="0" i="0" u="none" strike="noStrike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Script </a:t>
            </a:r>
            <a:r>
              <a:rPr lang="ko-KR" altLang="en-US" sz="3066" b="0" i="0" u="none" strike="noStrike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컴포넌트의 경우</a:t>
            </a:r>
            <a:endParaRPr lang="en-US" alt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  <a:p>
            <a:pPr lvl="0" algn="ctr">
              <a:lnSpc>
                <a:spcPct val="131970"/>
              </a:lnSpc>
            </a:pPr>
            <a:r>
              <a:rPr lang="en-US" altLang="ko-KR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name, parameter </a:t>
            </a:r>
            <a:r>
              <a:rPr lang="ko-KR" altLang="en-US" sz="3066">
                <a:solidFill>
                  <a:srgbClr val="000000"/>
                </a:solidFill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요소 추가 정의</a:t>
            </a:r>
            <a:endParaRPr lang="ko-KR" sz="3066" b="0" i="0" u="none" strike="noStrike">
              <a:solidFill>
                <a:srgbClr val="000000"/>
              </a:solidFill>
              <a:latin typeface="에스코어 드림 4 Regular" panose="020B0503030302020204" pitchFamily="34" charset="-127"/>
              <a:ea typeface="에스코어 드림 4 Regular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9514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07196D-8B25-C90D-5474-E1406964F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9A92158-AC44-7DC8-F6A5-4F38C8D77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981A0ED-460B-335F-CC19-358B169E5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F1F42FEB-4B0F-11C0-E7C5-31C4C793BB76}"/>
              </a:ext>
            </a:extLst>
          </p:cNvPr>
          <p:cNvSpPr txBox="1"/>
          <p:nvPr/>
        </p:nvSpPr>
        <p:spPr>
          <a:xfrm>
            <a:off x="21653500" y="596900"/>
            <a:ext cx="1549400" cy="279400"/>
          </a:xfrm>
          <a:prstGeom prst="rect">
            <a:avLst/>
          </a:prstGeom>
        </p:spPr>
        <p:txBody>
          <a:bodyPr lIns="0" tIns="20320" rIns="0" bIns="20320" rtlCol="0" anchor="ctr"/>
          <a:lstStyle/>
          <a:p>
            <a:pPr lvl="0" algn="ctr">
              <a:lnSpc>
                <a:spcPct val="99600"/>
              </a:lnSpc>
            </a:pPr>
            <a:r>
              <a:rPr lang="en" sz="1600" b="0" i="0" u="none" strike="noStrike" spc="-16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697880E-8F10-465C-0AE0-D824C96C2213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D0792B7-26A6-9BC5-DB89-84AC429A5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136877"/>
              </p:ext>
            </p:extLst>
          </p:nvPr>
        </p:nvGraphicFramePr>
        <p:xfrm>
          <a:off x="4063999" y="1403685"/>
          <a:ext cx="16256001" cy="5516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18667">
                  <a:extLst>
                    <a:ext uri="{9D8B030D-6E8A-4147-A177-3AD203B41FA5}">
                      <a16:colId xmlns:a16="http://schemas.microsoft.com/office/drawing/2014/main" val="3921369662"/>
                    </a:ext>
                  </a:extLst>
                </a:gridCol>
                <a:gridCol w="5418667">
                  <a:extLst>
                    <a:ext uri="{9D8B030D-6E8A-4147-A177-3AD203B41FA5}">
                      <a16:colId xmlns:a16="http://schemas.microsoft.com/office/drawing/2014/main" val="2733496"/>
                    </a:ext>
                  </a:extLst>
                </a:gridCol>
                <a:gridCol w="5418667">
                  <a:extLst>
                    <a:ext uri="{9D8B030D-6E8A-4147-A177-3AD203B41FA5}">
                      <a16:colId xmlns:a16="http://schemas.microsoft.com/office/drawing/2014/main" val="466690532"/>
                    </a:ext>
                  </a:extLst>
                </a:gridCol>
              </a:tblGrid>
              <a:tr h="110322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object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에 정의될 속성들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897832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parent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316747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역할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오브젝트 구분 역할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부모 오브젝트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390930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타입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IDREF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84334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기본 값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#IMPLIED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96075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3C7D5F1-9BFB-1926-248F-93190B23C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091893"/>
              </p:ext>
            </p:extLst>
          </p:nvPr>
        </p:nvGraphicFramePr>
        <p:xfrm>
          <a:off x="4013533" y="7565523"/>
          <a:ext cx="16256000" cy="5516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2136966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334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666905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656947744"/>
                    </a:ext>
                  </a:extLst>
                </a:gridCol>
              </a:tblGrid>
              <a:tr h="1103229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position, roatation, scale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element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에 정의될 속성들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897832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x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y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z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316747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역할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x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축 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y 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축 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z 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축 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157182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타입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84334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기본 값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960752"/>
                  </a:ext>
                </a:extLst>
              </a:tr>
            </a:tbl>
          </a:graphicData>
        </a:graphic>
      </p:graphicFrame>
      <p:sp>
        <p:nvSpPr>
          <p:cNvPr id="5" name="TextBox 9">
            <a:extLst>
              <a:ext uri="{FF2B5EF4-FFF2-40B4-BE49-F238E27FC236}">
                <a16:creationId xmlns:a16="http://schemas.microsoft.com/office/drawing/2014/main" id="{F09C5F45-712B-9FEB-DED9-96B39C8EAE93}"/>
              </a:ext>
            </a:extLst>
          </p:cNvPr>
          <p:cNvSpPr txBox="1"/>
          <p:nvPr/>
        </p:nvSpPr>
        <p:spPr>
          <a:xfrm>
            <a:off x="541976" y="1089694"/>
            <a:ext cx="3471557" cy="9652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4. Attribute </a:t>
            </a:r>
            <a:r>
              <a:rPr lang="ko-KR" alt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4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5257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B48945-2DE4-D419-9B67-0108D595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4A336C0-A76B-9C47-CD1E-95D3104A1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8FA1A27-B87F-2660-745E-29CD690C0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19CACDE0-CC68-9405-2D76-980D429C39BA}"/>
              </a:ext>
            </a:extLst>
          </p:cNvPr>
          <p:cNvSpPr txBox="1"/>
          <p:nvPr/>
        </p:nvSpPr>
        <p:spPr>
          <a:xfrm>
            <a:off x="381000" y="990600"/>
            <a:ext cx="3471557" cy="9652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4. Attribute </a:t>
            </a:r>
            <a:r>
              <a:rPr lang="ko-KR" alt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4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A35A3F8-FF3A-52F4-3568-AAD03CB6FF57}"/>
              </a:ext>
            </a:extLst>
          </p:cNvPr>
          <p:cNvSpPr txBox="1"/>
          <p:nvPr/>
        </p:nvSpPr>
        <p:spPr>
          <a:xfrm>
            <a:off x="21653500" y="596900"/>
            <a:ext cx="1549400" cy="279400"/>
          </a:xfrm>
          <a:prstGeom prst="rect">
            <a:avLst/>
          </a:prstGeom>
        </p:spPr>
        <p:txBody>
          <a:bodyPr lIns="0" tIns="20320" rIns="0" bIns="20320" rtlCol="0" anchor="ctr"/>
          <a:lstStyle/>
          <a:p>
            <a:pPr lvl="0" algn="ctr">
              <a:lnSpc>
                <a:spcPct val="99600"/>
              </a:lnSpc>
            </a:pPr>
            <a:r>
              <a:rPr lang="en" sz="1600" b="0" i="0" u="none" strike="noStrike" spc="-16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7FE65C3-0ED4-9242-FE22-4ACC4C0274CA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7132326-A828-00CE-A1DC-149641B7B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453446"/>
              </p:ext>
            </p:extLst>
          </p:nvPr>
        </p:nvGraphicFramePr>
        <p:xfrm>
          <a:off x="5302027" y="1341855"/>
          <a:ext cx="13767246" cy="5516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53134">
                  <a:extLst>
                    <a:ext uri="{9D8B030D-6E8A-4147-A177-3AD203B41FA5}">
                      <a16:colId xmlns:a16="http://schemas.microsoft.com/office/drawing/2014/main" val="3921369662"/>
                    </a:ext>
                  </a:extLst>
                </a:gridCol>
                <a:gridCol w="10314112">
                  <a:extLst>
                    <a:ext uri="{9D8B030D-6E8A-4147-A177-3AD203B41FA5}">
                      <a16:colId xmlns:a16="http://schemas.microsoft.com/office/drawing/2014/main" val="2733496"/>
                    </a:ext>
                  </a:extLst>
                </a:gridCol>
              </a:tblGrid>
              <a:tr h="110322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component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에 정의될 속성들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897832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type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316747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역할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컴포넌트 종류 정의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7113025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타입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ENUM(Script, Camera, Light, Rigidbody, Collider 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등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)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84334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기본 값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96075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2B76341-8B99-9E6B-A39C-0D9DA2156B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625933"/>
              </p:ext>
            </p:extLst>
          </p:nvPr>
        </p:nvGraphicFramePr>
        <p:xfrm>
          <a:off x="5302023" y="7577555"/>
          <a:ext cx="13767246" cy="55161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89082">
                  <a:extLst>
                    <a:ext uri="{9D8B030D-6E8A-4147-A177-3AD203B41FA5}">
                      <a16:colId xmlns:a16="http://schemas.microsoft.com/office/drawing/2014/main" val="3921369662"/>
                    </a:ext>
                  </a:extLst>
                </a:gridCol>
                <a:gridCol w="4589082">
                  <a:extLst>
                    <a:ext uri="{9D8B030D-6E8A-4147-A177-3AD203B41FA5}">
                      <a16:colId xmlns:a16="http://schemas.microsoft.com/office/drawing/2014/main" val="2733496"/>
                    </a:ext>
                  </a:extLst>
                </a:gridCol>
                <a:gridCol w="4589082">
                  <a:extLst>
                    <a:ext uri="{9D8B030D-6E8A-4147-A177-3AD203B41FA5}">
                      <a16:colId xmlns:a16="http://schemas.microsoft.com/office/drawing/2014/main" val="466690532"/>
                    </a:ext>
                  </a:extLst>
                </a:gridCol>
              </a:tblGrid>
              <a:tr h="1103229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componet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type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이 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Script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인 경우 </a:t>
                      </a: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Parameter </a:t>
                      </a:r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요소에 정의될 속성들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897832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type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name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316747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역할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변수 자료형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변수 이름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9672064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타입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384334"/>
                  </a:ext>
                </a:extLst>
              </a:tr>
              <a:tr h="1103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기본 값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solidFill>
                            <a:schemeClr val="tx1"/>
                          </a:solidFill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solidFill>
                          <a:schemeClr val="tx1"/>
                        </a:solidFill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960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456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11BE2B-6402-D534-291D-872F54E61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2082676-4A5E-7291-5E37-36049C741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0365F2C-31E1-0183-6E9F-B67360D83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21265620-CF4D-3750-4EF0-42043850FDF6}"/>
              </a:ext>
            </a:extLst>
          </p:cNvPr>
          <p:cNvSpPr txBox="1"/>
          <p:nvPr/>
        </p:nvSpPr>
        <p:spPr>
          <a:xfrm>
            <a:off x="1346200" y="1244600"/>
            <a:ext cx="3471557" cy="9652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4. Attribute </a:t>
            </a:r>
            <a:r>
              <a:rPr lang="ko-KR" alt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4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F0E2EFF-BF0E-AD0A-91E5-240127B83D2A}"/>
              </a:ext>
            </a:extLst>
          </p:cNvPr>
          <p:cNvSpPr txBox="1"/>
          <p:nvPr/>
        </p:nvSpPr>
        <p:spPr>
          <a:xfrm>
            <a:off x="21653500" y="596900"/>
            <a:ext cx="1549400" cy="279400"/>
          </a:xfrm>
          <a:prstGeom prst="rect">
            <a:avLst/>
          </a:prstGeom>
        </p:spPr>
        <p:txBody>
          <a:bodyPr lIns="0" tIns="20320" rIns="0" bIns="20320" rtlCol="0" anchor="ctr"/>
          <a:lstStyle/>
          <a:p>
            <a:pPr lvl="0" algn="ctr">
              <a:lnSpc>
                <a:spcPct val="99600"/>
              </a:lnSpc>
            </a:pPr>
            <a:r>
              <a:rPr lang="en" sz="1600" b="0" i="0" u="none" strike="noStrike" spc="-16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9644FBB-EA6F-24E5-CE11-08AC8F1E4EFC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73EBF36-5D79-E92B-2CBB-189DA0FDC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405167"/>
              </p:ext>
            </p:extLst>
          </p:nvPr>
        </p:nvGraphicFramePr>
        <p:xfrm>
          <a:off x="1346201" y="2222500"/>
          <a:ext cx="22352000" cy="10735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7199">
                  <a:extLst>
                    <a:ext uri="{9D8B030D-6E8A-4147-A177-3AD203B41FA5}">
                      <a16:colId xmlns:a16="http://schemas.microsoft.com/office/drawing/2014/main" val="373489978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1198100965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248969707"/>
                    </a:ext>
                  </a:extLst>
                </a:gridCol>
                <a:gridCol w="5435601">
                  <a:extLst>
                    <a:ext uri="{9D8B030D-6E8A-4147-A177-3AD203B41FA5}">
                      <a16:colId xmlns:a16="http://schemas.microsoft.com/office/drawing/2014/main" val="1054768682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4153539828"/>
                    </a:ext>
                  </a:extLst>
                </a:gridCol>
              </a:tblGrid>
              <a:tr h="13419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component</a:t>
                      </a:r>
                    </a:p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type=“”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역할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타입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기본 값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88383"/>
                  </a:ext>
                </a:extLst>
              </a:tr>
              <a:tr h="134196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camera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FieldOfView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카메라 시야 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0678168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NearClip, FarClip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카메라 렌더링 최소</a:t>
                      </a:r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, 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최대 거리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992633"/>
                  </a:ext>
                </a:extLst>
              </a:tr>
              <a:tr h="134196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Light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LightType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빛의 종류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ENUM</a:t>
                      </a:r>
                    </a:p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(Directional, Spot, Point, Area)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649122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Intensity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빛의 강도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6847710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Color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빛의 색상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6155459"/>
                  </a:ext>
                </a:extLst>
              </a:tr>
              <a:tr h="134196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Rigidbody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mass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강체 무게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4882234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isKinematic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강체 고정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ENUM</a:t>
                      </a:r>
                    </a:p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(true, false_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275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18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BD39E-BB12-E0C5-2334-CB9D1B557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50283C4-9E5B-6D61-6203-FAEF89EF6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35976E40-BE03-699E-EC46-10D546FD1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D2648763-2328-F530-21A6-3F4C946AC0C8}"/>
              </a:ext>
            </a:extLst>
          </p:cNvPr>
          <p:cNvSpPr txBox="1"/>
          <p:nvPr/>
        </p:nvSpPr>
        <p:spPr>
          <a:xfrm>
            <a:off x="1087743" y="899026"/>
            <a:ext cx="3471557" cy="9652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4. Attribute </a:t>
            </a:r>
            <a:r>
              <a:rPr lang="ko-KR" altLang="en-US" sz="40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정의</a:t>
            </a:r>
            <a:endParaRPr lang="en" sz="40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C9CAD5C-AE0C-2A64-6798-2140B40D81D4}"/>
              </a:ext>
            </a:extLst>
          </p:cNvPr>
          <p:cNvSpPr txBox="1"/>
          <p:nvPr/>
        </p:nvSpPr>
        <p:spPr>
          <a:xfrm>
            <a:off x="21653500" y="596900"/>
            <a:ext cx="1549400" cy="279400"/>
          </a:xfrm>
          <a:prstGeom prst="rect">
            <a:avLst/>
          </a:prstGeom>
        </p:spPr>
        <p:txBody>
          <a:bodyPr lIns="0" tIns="20320" rIns="0" bIns="20320" rtlCol="0" anchor="ctr"/>
          <a:lstStyle/>
          <a:p>
            <a:pPr lvl="0" algn="ctr">
              <a:lnSpc>
                <a:spcPct val="99600"/>
              </a:lnSpc>
            </a:pPr>
            <a:r>
              <a:rPr lang="en" sz="1600" b="0" i="0" u="none" strike="noStrike" spc="-16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D26032C5-DE69-41FD-4325-787957725C9F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61C6081-B796-88A0-EF9D-FB5D5BEF4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060195"/>
              </p:ext>
            </p:extLst>
          </p:nvPr>
        </p:nvGraphicFramePr>
        <p:xfrm>
          <a:off x="1333500" y="1822116"/>
          <a:ext cx="22352000" cy="1170739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7199">
                  <a:extLst>
                    <a:ext uri="{9D8B030D-6E8A-4147-A177-3AD203B41FA5}">
                      <a16:colId xmlns:a16="http://schemas.microsoft.com/office/drawing/2014/main" val="373489978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1198100965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1248969707"/>
                    </a:ext>
                  </a:extLst>
                </a:gridCol>
                <a:gridCol w="5588001">
                  <a:extLst>
                    <a:ext uri="{9D8B030D-6E8A-4147-A177-3AD203B41FA5}">
                      <a16:colId xmlns:a16="http://schemas.microsoft.com/office/drawing/2014/main" val="1054768682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4153539828"/>
                    </a:ext>
                  </a:extLst>
                </a:gridCol>
              </a:tblGrid>
              <a:tr h="101823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component</a:t>
                      </a:r>
                    </a:p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type=“”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이름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역할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타입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속성 기본 값</a:t>
                      </a: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88383"/>
                  </a:ext>
                </a:extLst>
              </a:tr>
              <a:tr h="134196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Collider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coll_type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콜라이더 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ENUM</a:t>
                      </a:r>
                    </a:p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(Box, Capsule, Mesh, Sphere 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등</a:t>
                      </a:r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)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0678168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isTrigger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트리거 이벤트 반응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ENUM(true, false)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992633"/>
                  </a:ext>
                </a:extLst>
              </a:tr>
              <a:tr h="12953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MeshRenderer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mesh_ref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참조 메쉬 오브젝트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#IMPLIED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649122"/>
                  </a:ext>
                </a:extLst>
              </a:tr>
              <a:tr h="134196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AudioSource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audio_ref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참조 오디오 소스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CDATA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#IMPLIED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4882234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loop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반복 재생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ENUM</a:t>
                      </a:r>
                    </a:p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(true, false)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9275362"/>
                  </a:ext>
                </a:extLst>
              </a:tr>
              <a:tr h="134196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playOnAwake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깨어나는 시점에 재생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ENUM</a:t>
                      </a:r>
                    </a:p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(true, false)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6957037"/>
                  </a:ext>
                </a:extLst>
              </a:tr>
              <a:tr h="13419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Canvas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render_mode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UI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렌더링 모드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ENUM</a:t>
                      </a:r>
                    </a:p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(ScreenSpace, WorldSpace)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7679349"/>
                  </a:ext>
                </a:extLst>
              </a:tr>
              <a:tr h="134196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CanvasScaler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>
                    <a:solidFill>
                      <a:srgbClr val="FEF4D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scale_mode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UI</a:t>
                      </a:r>
                      <a:r>
                        <a:rPr lang="ko-KR" altLang="en-US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 요소의 기준 크기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ENUM</a:t>
                      </a:r>
                    </a:p>
                    <a:p>
                      <a:pPr algn="ctr" latinLnBrk="1"/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(Pixel, Screen, Physical)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latin typeface="에스코어 드림 4 Regular" panose="020B0503030302020204" pitchFamily="34" charset="-127"/>
                          <a:ea typeface="에스코어 드림 4 Regular" panose="020B0503030302020204" pitchFamily="34" charset="-127"/>
                        </a:rPr>
                        <a:t>#REQUIRED</a:t>
                      </a:r>
                      <a:endParaRPr lang="ko-KR" altLang="en-US" sz="2800">
                        <a:latin typeface="에스코어 드림 4 Regular" panose="020B0503030302020204" pitchFamily="34" charset="-127"/>
                        <a:ea typeface="에스코어 드림 4 Regular" panose="020B0503030302020204" pitchFamily="34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2810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5314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238F89-4629-8C76-A25E-BD76A5626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1526DED-E1FD-EBC8-08FE-6535A2A3C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" y="-228600"/>
            <a:ext cx="6997700" cy="4064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4A07C9A-5713-6121-C96F-DDE91E42A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990600"/>
            <a:ext cx="21704300" cy="12700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F2CB73C9-AF12-EACC-43C9-73CA2690D7FB}"/>
              </a:ext>
            </a:extLst>
          </p:cNvPr>
          <p:cNvSpPr txBox="1"/>
          <p:nvPr/>
        </p:nvSpPr>
        <p:spPr>
          <a:xfrm>
            <a:off x="533400" y="990600"/>
            <a:ext cx="13208000" cy="977900"/>
          </a:xfrm>
          <a:prstGeom prst="rect">
            <a:avLst/>
          </a:prstGeom>
        </p:spPr>
        <p:txBody>
          <a:bodyPr lIns="0" tIns="266700" rIns="0" bIns="0" rtlCol="0" anchor="t"/>
          <a:lstStyle/>
          <a:p>
            <a:pPr lvl="0" algn="l">
              <a:lnSpc>
                <a:spcPct val="87149"/>
              </a:lnSpc>
            </a:pPr>
            <a:r>
              <a:rPr 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5. XML </a:t>
            </a:r>
            <a:r>
              <a:rPr lang="ko-KR" altLang="en-US" sz="4800" b="0" i="0" u="none" strike="noStrike" spc="-24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 예시</a:t>
            </a:r>
            <a:endParaRPr lang="en" sz="4800" b="0" i="0" u="none" strike="noStrike" spc="-24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B1EA9BD-45DC-B03A-78B6-17676265E272}"/>
              </a:ext>
            </a:extLst>
          </p:cNvPr>
          <p:cNvSpPr txBox="1"/>
          <p:nvPr/>
        </p:nvSpPr>
        <p:spPr>
          <a:xfrm>
            <a:off x="21653500" y="596900"/>
            <a:ext cx="1549400" cy="279400"/>
          </a:xfrm>
          <a:prstGeom prst="rect">
            <a:avLst/>
          </a:prstGeom>
        </p:spPr>
        <p:txBody>
          <a:bodyPr lIns="0" tIns="20320" rIns="0" bIns="20320" rtlCol="0" anchor="ctr"/>
          <a:lstStyle/>
          <a:p>
            <a:pPr lvl="0" algn="ctr">
              <a:lnSpc>
                <a:spcPct val="99600"/>
              </a:lnSpc>
            </a:pPr>
            <a:r>
              <a:rPr lang="en" sz="1600" b="0" i="0" u="none" strike="noStrike" spc="-16">
                <a:solidFill>
                  <a:srgbClr val="000000"/>
                </a:solidFill>
                <a:latin typeface="Anek Bangla Expanded SemiBold"/>
              </a:rPr>
              <a:t>MIRICOM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29C7B06-BF1A-45FA-5366-DC1AEF22D64D}"/>
              </a:ext>
            </a:extLst>
          </p:cNvPr>
          <p:cNvSpPr txBox="1"/>
          <p:nvPr/>
        </p:nvSpPr>
        <p:spPr>
          <a:xfrm>
            <a:off x="1346200" y="622300"/>
            <a:ext cx="3213100" cy="266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1466" b="0" i="0" u="none" strike="noStrike">
                <a:solidFill>
                  <a:srgbClr val="595959"/>
                </a:solidFill>
                <a:latin typeface="S-Core Dream 3 Light"/>
              </a:rPr>
              <a:t>Investor Relations Deck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E6B9AA-4418-77CD-6BF3-90D4C4E3C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261" y="3179678"/>
            <a:ext cx="11359848" cy="85344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EBB0EFE-5084-83FC-48FB-B501113F5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21322" y="2686587"/>
            <a:ext cx="12345573" cy="9520583"/>
          </a:xfrm>
          <a:prstGeom prst="rect">
            <a:avLst/>
          </a:prstGeom>
        </p:spPr>
      </p:pic>
      <p:sp>
        <p:nvSpPr>
          <p:cNvPr id="11" name="TextBox 17">
            <a:extLst>
              <a:ext uri="{FF2B5EF4-FFF2-40B4-BE49-F238E27FC236}">
                <a16:creationId xmlns:a16="http://schemas.microsoft.com/office/drawing/2014/main" id="{1EFD28DD-1A54-ED81-1D7A-01DF77D1D8B3}"/>
              </a:ext>
            </a:extLst>
          </p:cNvPr>
          <p:cNvSpPr txBox="1"/>
          <p:nvPr/>
        </p:nvSpPr>
        <p:spPr>
          <a:xfrm>
            <a:off x="1005135" y="11823700"/>
            <a:ext cx="9690100" cy="127000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600" b="0" i="0" u="none" strike="noStrike" spc="-134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다양한 유형의 컴포넌트</a:t>
            </a: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BA9B7376-75F5-95A1-4B9C-06D3B84AF294}"/>
              </a:ext>
            </a:extLst>
          </p:cNvPr>
          <p:cNvSpPr txBox="1"/>
          <p:nvPr/>
        </p:nvSpPr>
        <p:spPr>
          <a:xfrm>
            <a:off x="13249058" y="12243265"/>
            <a:ext cx="9690100" cy="1270000"/>
          </a:xfrm>
          <a:prstGeom prst="rect">
            <a:avLst/>
          </a:prstGeom>
        </p:spPr>
        <p:txBody>
          <a:bodyPr lIns="0" tIns="170376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600" b="0" i="0" u="none" strike="noStrike" spc="-134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부모 관계가 존재하는 오브젝트</a:t>
            </a:r>
            <a:endParaRPr lang="en" sz="3600" b="0" i="0" u="none" strike="noStrike" spc="-134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4834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0F674F-E76F-3A63-589F-F3CB5B3ED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9923EF6-2974-634B-8E2C-82FE60131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5500" y="-165100"/>
            <a:ext cx="13804900" cy="141605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FAF13EF-97B5-62E1-6D5E-50B7A2016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400" y="8585200"/>
            <a:ext cx="15265400" cy="55372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6C5CFA17-233B-27B7-9DE8-9799D8B82850}"/>
              </a:ext>
            </a:extLst>
          </p:cNvPr>
          <p:cNvSpPr txBox="1"/>
          <p:nvPr/>
        </p:nvSpPr>
        <p:spPr>
          <a:xfrm>
            <a:off x="2800350" y="4140200"/>
            <a:ext cx="18783300" cy="5435600"/>
          </a:xfrm>
          <a:prstGeom prst="rect">
            <a:avLst/>
          </a:prstGeom>
        </p:spPr>
        <p:txBody>
          <a:bodyPr lIns="0" tIns="480060" rIns="0" bIns="0" rtlCol="0" anchor="ctr"/>
          <a:lstStyle/>
          <a:p>
            <a:pPr lvl="0" algn="ctr">
              <a:lnSpc>
                <a:spcPct val="81339"/>
              </a:lnSpc>
            </a:pPr>
            <a:r>
              <a:rPr lang="ko-KR" altLang="en-US" sz="15000" b="0" i="0" u="none" strike="noStrike" spc="-360">
                <a:solidFill>
                  <a:srgbClr val="000000"/>
                </a:solidFill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감사합니다</a:t>
            </a:r>
            <a:endParaRPr lang="en-US" altLang="ko-KR" sz="15000" b="0" i="0" u="none" strike="noStrike" spc="-360">
              <a:solidFill>
                <a:srgbClr val="000000"/>
              </a:solidFill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72B8D77-6331-DCF1-A160-1D78FFEFA8BA}"/>
              </a:ext>
            </a:extLst>
          </p:cNvPr>
          <p:cNvSpPr txBox="1"/>
          <p:nvPr/>
        </p:nvSpPr>
        <p:spPr>
          <a:xfrm>
            <a:off x="20650200" y="13093700"/>
            <a:ext cx="4749800" cy="5588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" sz="3132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21011627 </a:t>
            </a:r>
            <a:r>
              <a:rPr lang="ko-KR" altLang="en-US" sz="3132" b="0" i="0" u="none" strike="noStrike">
                <a:solidFill>
                  <a:srgbClr val="000000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</a:rPr>
              <a:t>배준엽</a:t>
            </a:r>
            <a:endParaRPr lang="en" sz="3132" b="0" i="0" u="none" strike="noStrike">
              <a:solidFill>
                <a:srgbClr val="000000"/>
              </a:solidFill>
              <a:latin typeface="에스코어 드림 3 Light" panose="020B0303030302020204" pitchFamily="34" charset="-127"/>
              <a:ea typeface="에스코어 드림 3 Light" panose="020B03030303020202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7984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620</Words>
  <Application>Microsoft Office PowerPoint</Application>
  <PresentationFormat>사용자 지정</PresentationFormat>
  <Paragraphs>219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2" baseType="lpstr">
      <vt:lpstr>Anek Bangla Expanded ExtraLight</vt:lpstr>
      <vt:lpstr>에스코어 드림 3 Light</vt:lpstr>
      <vt:lpstr>에스코어 드림 4 Regular</vt:lpstr>
      <vt:lpstr>에스코어 드림 4 Regular</vt:lpstr>
      <vt:lpstr>Arial</vt:lpstr>
      <vt:lpstr>에스코어 드림 5 Medium</vt:lpstr>
      <vt:lpstr>Anek Bangla Expanded Medium</vt:lpstr>
      <vt:lpstr>Anek Bangla Expanded SemiBold</vt:lpstr>
      <vt:lpstr>Calibri</vt:lpstr>
      <vt:lpstr>에스코어 드림 3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배준엽</cp:lastModifiedBy>
  <cp:revision>10</cp:revision>
  <dcterms:created xsi:type="dcterms:W3CDTF">2006-08-16T00:00:00Z</dcterms:created>
  <dcterms:modified xsi:type="dcterms:W3CDTF">2025-10-28T15:22:50Z</dcterms:modified>
</cp:coreProperties>
</file>